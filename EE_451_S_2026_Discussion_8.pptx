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8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2" r:id="rId29"/>
    <p:sldId id="257" r:id="rId30"/>
    <p:sldId id="283" r:id="rId31"/>
    <p:sldId id="284" r:id="rId32"/>
    <p:sldId id="285" r:id="rId33"/>
    <p:sldId id="286" r:id="rId34"/>
    <p:sldId id="287" r:id="rId35"/>
    <p:sldId id="280" r:id="rId36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78472D4B-BD3B-4655-A781-AE2BE4205292}">
          <p14:sldIdLst>
            <p14:sldId id="256"/>
            <p14:sldId id="281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2"/>
            <p14:sldId id="257"/>
            <p14:sldId id="283"/>
            <p14:sldId id="284"/>
            <p14:sldId id="285"/>
            <p14:sldId id="286"/>
            <p14:sldId id="287"/>
          </p14:sldIdLst>
        </p14:section>
        <p14:section name="Untitled Section" id="{209CD29A-063A-469E-87B4-302E4EDF2232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20945" y="2074163"/>
            <a:ext cx="2383154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5623" y="189541"/>
            <a:ext cx="549469" cy="70739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3041" y="6298386"/>
            <a:ext cx="2197247" cy="4669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20543" y="332740"/>
            <a:ext cx="7550912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975" y="1162240"/>
            <a:ext cx="10642600" cy="3392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iencedirect.com/science/article/pii/S002199918571039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ppa.univ-lille3.fr/~mary/cours/stats/centrale/reco/paper/MatrixFactorizationALS.pdf" TargetMode="External"/><Relationship Id="rId2" Type="http://schemas.openxmlformats.org/officeDocument/2006/relationships/hyperlink" Target="http://ieeexplore.ieee.org/abstract/document/1565742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5.png"/><Relationship Id="rId7" Type="http://schemas.openxmlformats.org/officeDocument/2006/relationships/hyperlink" Target="http://www.riallto.ai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iallto.ai/3_4_Edge_detect_example.html" TargetMode="External"/><Relationship Id="rId5" Type="http://schemas.openxmlformats.org/officeDocument/2006/relationships/hyperlink" Target="https://riallto.ai/3_2_Ryzenai_capabilities.html" TargetMode="External"/><Relationship Id="rId4" Type="http://schemas.openxmlformats.org/officeDocument/2006/relationships/hyperlink" Target="https://www.amd.com/en/products/processors/consumer/ryzen-ai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docs.cerebras.net/en/latest/wsc/cerebras-basics/how-cerebras-work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com/content/www/us/en/developer/topic-technology/ai-pc/overview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jm.com/markets-and-operations/ops-analysis" TargetMode="External"/><Relationship Id="rId2" Type="http://schemas.openxmlformats.org/officeDocument/2006/relationships/hyperlink" Target="http://snap.stanford.edu/data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cmu.edu/afs/cs/academic/class/15418-f24/www/projects.html" TargetMode="External"/><Relationship Id="rId4" Type="http://schemas.openxmlformats.org/officeDocument/2006/relationships/hyperlink" Target="https://en.wikipedia.org/wiki/List_of_datasets_for_machine_learning_research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54020" y="2137663"/>
            <a:ext cx="6292215" cy="1004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802640">
              <a:lnSpc>
                <a:spcPct val="100000"/>
              </a:lnSpc>
              <a:spcBef>
                <a:spcPts val="130"/>
              </a:spcBef>
            </a:pPr>
            <a:r>
              <a:rPr sz="3200" b="1">
                <a:latin typeface="Calibri"/>
                <a:cs typeface="Calibri"/>
              </a:rPr>
              <a:t>EE/CSCI</a:t>
            </a:r>
            <a:r>
              <a:rPr sz="3200" b="1" spc="-110">
                <a:latin typeface="Calibri"/>
                <a:cs typeface="Calibri"/>
              </a:rPr>
              <a:t> </a:t>
            </a:r>
            <a:r>
              <a:rPr sz="3200" b="1">
                <a:latin typeface="Calibri"/>
                <a:cs typeface="Calibri"/>
              </a:rPr>
              <a:t>451</a:t>
            </a:r>
            <a:r>
              <a:rPr sz="3200" b="1" spc="-125">
                <a:latin typeface="Calibri"/>
                <a:cs typeface="Calibri"/>
              </a:rPr>
              <a:t> </a:t>
            </a:r>
            <a:r>
              <a:rPr sz="3200" b="1">
                <a:latin typeface="Calibri"/>
                <a:cs typeface="Calibri"/>
              </a:rPr>
              <a:t>Introduction</a:t>
            </a:r>
            <a:r>
              <a:rPr sz="3200" b="1" spc="-85">
                <a:latin typeface="Calibri"/>
                <a:cs typeface="Calibri"/>
              </a:rPr>
              <a:t> </a:t>
            </a:r>
            <a:r>
              <a:rPr sz="3200" b="1" spc="-25">
                <a:latin typeface="Calibri"/>
                <a:cs typeface="Calibri"/>
              </a:rPr>
              <a:t>to </a:t>
            </a:r>
            <a:r>
              <a:rPr sz="3200" b="1" spc="-10">
                <a:latin typeface="Calibri"/>
                <a:cs typeface="Calibri"/>
              </a:rPr>
              <a:t>Parallel</a:t>
            </a:r>
            <a:r>
              <a:rPr sz="3200" b="1" spc="-50">
                <a:latin typeface="Calibri"/>
                <a:cs typeface="Calibri"/>
              </a:rPr>
              <a:t> </a:t>
            </a:r>
            <a:r>
              <a:rPr sz="3200" b="1">
                <a:latin typeface="Calibri"/>
                <a:cs typeface="Calibri"/>
              </a:rPr>
              <a:t>and</a:t>
            </a:r>
            <a:r>
              <a:rPr sz="3200" b="1" spc="-95">
                <a:latin typeface="Calibri"/>
                <a:cs typeface="Calibri"/>
              </a:rPr>
              <a:t> </a:t>
            </a:r>
            <a:r>
              <a:rPr sz="3200" b="1" spc="-10">
                <a:latin typeface="Calibri"/>
                <a:cs typeface="Calibri"/>
              </a:rPr>
              <a:t>Distributed</a:t>
            </a:r>
            <a:r>
              <a:rPr sz="3200" b="1" spc="-85">
                <a:latin typeface="Calibri"/>
                <a:cs typeface="Calibri"/>
              </a:rPr>
              <a:t> </a:t>
            </a:r>
            <a:r>
              <a:rPr sz="3200" b="1" spc="-10">
                <a:latin typeface="Calibri"/>
                <a:cs typeface="Calibri"/>
              </a:rPr>
              <a:t>Computation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0509" y="3508565"/>
            <a:ext cx="4055110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 marR="1189355" algn="ctr">
              <a:lnSpc>
                <a:spcPct val="12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Discussion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#</a:t>
            </a:r>
            <a:r>
              <a:rPr lang="en-US" sz="2400" spc="-25">
                <a:latin typeface="Calibri"/>
                <a:cs typeface="Calibri"/>
              </a:rPr>
              <a:t>8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lang="en-US" sz="2400" spc="-10">
                <a:latin typeface="Calibri"/>
                <a:cs typeface="Calibri"/>
              </a:rPr>
              <a:t>3</a:t>
            </a:r>
            <a:r>
              <a:rPr sz="2400" spc="-10">
                <a:latin typeface="Calibri"/>
                <a:cs typeface="Calibri"/>
              </a:rPr>
              <a:t>/</a:t>
            </a:r>
            <a:r>
              <a:rPr lang="en-US" sz="2400" spc="-10">
                <a:latin typeface="Calibri"/>
                <a:cs typeface="Calibri"/>
              </a:rPr>
              <a:t>6</a:t>
            </a:r>
            <a:r>
              <a:rPr sz="2400" spc="-10">
                <a:latin typeface="Calibri"/>
                <a:cs typeface="Calibri"/>
              </a:rPr>
              <a:t>/202</a:t>
            </a:r>
            <a:r>
              <a:rPr lang="en-US" sz="2400" spc="-1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2400">
                <a:latin typeface="Calibri"/>
                <a:cs typeface="Calibri"/>
              </a:rPr>
              <a:t>University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Southern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California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0437F-6E66-CB4D-B131-03F26B86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71FB4C7-1314-74A2-1B7E-65E50D2A9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rPr lang="en-US"/>
              <a:t>Announcements</a:t>
            </a:r>
            <a:endParaRPr spc="-25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34E40C9-9FDF-0535-0233-2C691D93BABD}"/>
              </a:ext>
            </a:extLst>
          </p:cNvPr>
          <p:cNvSpPr txBox="1"/>
          <p:nvPr/>
        </p:nvSpPr>
        <p:spPr>
          <a:xfrm>
            <a:off x="688975" y="1162240"/>
            <a:ext cx="10475595" cy="402610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0525" lvl="1">
              <a:spcBef>
                <a:spcPts val="575"/>
              </a:spcBef>
              <a:buSzPct val="95833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•Project is announced today</a:t>
            </a:r>
          </a:p>
          <a:p>
            <a:pPr marL="733425" lvl="1" indent="-342900">
              <a:lnSpc>
                <a:spcPct val="100000"/>
              </a:lnSpc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Proposal due Wednesday, 3/11 at 11:59PM on Brightspace</a:t>
            </a:r>
          </a:p>
          <a:p>
            <a:pPr marL="733425" lvl="1" indent="-342900">
              <a:lnSpc>
                <a:spcPct val="100000"/>
              </a:lnSpc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Start forming teams NOW!</a:t>
            </a:r>
          </a:p>
          <a:p>
            <a:pPr marL="390525" lvl="1">
              <a:spcBef>
                <a:spcPts val="575"/>
              </a:spcBef>
              <a:buSzPct val="95833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•Midterm I Review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Sample Exam &amp; Solutions on Piazza + Brightspace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Homework 2 Solutions on Piazza + Brightspace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HW 3 due 3/6 at 11:59PM on Brightspace (solutions posted on Monday)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PHW 4 due 3/9 at 11:59PM on Brightspace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endParaRPr lang="en-US"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389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475595" cy="30694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3510" marR="9436735" indent="-143510" algn="r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43510" algn="l"/>
              </a:tabLst>
            </a:pPr>
            <a:r>
              <a:rPr sz="2400" spc="-10"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  <a:p>
            <a:pPr marR="9439275" algn="r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Ideas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 spc="-10">
                <a:latin typeface="Calibri"/>
                <a:cs typeface="Calibri"/>
              </a:rPr>
              <a:t>Research,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Implement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10">
                <a:latin typeface="Calibri"/>
                <a:cs typeface="Calibri"/>
              </a:rPr>
              <a:t> Evaluate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0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Implement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Evaluate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Complete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application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parallelization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Should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not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something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trivial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e.g.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parallelizing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shortest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path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or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all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pair </a:t>
            </a:r>
            <a:r>
              <a:rPr sz="2400" spc="-10">
                <a:latin typeface="Calibri"/>
                <a:cs typeface="Calibri"/>
              </a:rPr>
              <a:t>shortest</a:t>
            </a:r>
            <a:endParaRPr sz="240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  <a:spcBef>
                <a:spcPts val="50"/>
              </a:spcBef>
            </a:pPr>
            <a:r>
              <a:rPr sz="2400">
                <a:latin typeface="Calibri"/>
                <a:cs typeface="Calibri"/>
              </a:rPr>
              <a:t>path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not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good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project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idea.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(2)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pc="-10"/>
              <a:t>Research,</a:t>
            </a:r>
            <a:r>
              <a:rPr spc="-65"/>
              <a:t> </a:t>
            </a:r>
            <a:r>
              <a:rPr spc="-10"/>
              <a:t>Implement,</a:t>
            </a:r>
            <a:r>
              <a:rPr spc="-65"/>
              <a:t> </a:t>
            </a:r>
            <a:r>
              <a:rPr spc="-10"/>
              <a:t>Evaluate</a:t>
            </a: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t>Propose</a:t>
            </a:r>
            <a:r>
              <a:rPr spc="-95"/>
              <a:t> </a:t>
            </a:r>
            <a:r>
              <a:t>a</a:t>
            </a:r>
            <a:r>
              <a:rPr spc="-65"/>
              <a:t> </a:t>
            </a:r>
            <a:r>
              <a:t>new</a:t>
            </a:r>
            <a:r>
              <a:rPr spc="-90"/>
              <a:t> </a:t>
            </a:r>
            <a:r>
              <a:rPr spc="-10"/>
              <a:t>parallelization</a:t>
            </a:r>
            <a:r>
              <a:rPr spc="-90"/>
              <a:t> </a:t>
            </a:r>
            <a:r>
              <a:t>technique</a:t>
            </a:r>
            <a:r>
              <a:rPr spc="-35"/>
              <a:t> </a:t>
            </a:r>
            <a:r>
              <a:t>for</a:t>
            </a:r>
            <a:r>
              <a:rPr spc="-45"/>
              <a:t> </a:t>
            </a:r>
            <a:r>
              <a:t>an</a:t>
            </a:r>
            <a:r>
              <a:rPr spc="-90"/>
              <a:t> </a:t>
            </a:r>
            <a:r>
              <a:t>existing</a:t>
            </a:r>
            <a:r>
              <a:rPr spc="-105"/>
              <a:t> </a:t>
            </a:r>
            <a:r>
              <a:rPr spc="-10"/>
              <a:t>algorithm.</a:t>
            </a: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t>Implement</a:t>
            </a:r>
            <a:r>
              <a:rPr spc="-45"/>
              <a:t> </a:t>
            </a:r>
            <a:r>
              <a:t>the</a:t>
            </a:r>
            <a:r>
              <a:rPr spc="-50"/>
              <a:t> </a:t>
            </a:r>
            <a:r>
              <a:rPr spc="-10"/>
              <a:t>parallelization</a:t>
            </a:r>
            <a:r>
              <a:rPr spc="-50"/>
              <a:t> </a:t>
            </a:r>
            <a:r>
              <a:rPr spc="-10"/>
              <a:t>technique</a:t>
            </a:r>
            <a:r>
              <a:rPr spc="-55"/>
              <a:t> </a:t>
            </a:r>
            <a:r>
              <a:t>using</a:t>
            </a:r>
            <a:r>
              <a:rPr spc="-65"/>
              <a:t> </a:t>
            </a:r>
            <a:r>
              <a:t>a</a:t>
            </a:r>
            <a:r>
              <a:rPr spc="-80"/>
              <a:t> </a:t>
            </a:r>
            <a:r>
              <a:rPr spc="-10"/>
              <a:t>programming</a:t>
            </a:r>
            <a:r>
              <a:rPr spc="-65"/>
              <a:t> </a:t>
            </a:r>
            <a:r>
              <a:rPr spc="-10"/>
              <a:t>platform</a:t>
            </a:r>
          </a:p>
          <a:p>
            <a:pPr marL="205740">
              <a:lnSpc>
                <a:spcPct val="100000"/>
              </a:lnSpc>
              <a:spcBef>
                <a:spcPts val="570"/>
              </a:spcBef>
            </a:pPr>
            <a:r>
              <a:rPr>
                <a:latin typeface="Arial"/>
                <a:cs typeface="Arial"/>
              </a:rPr>
              <a:t>–</a:t>
            </a:r>
            <a:r>
              <a:rPr spc="-20"/>
              <a:t>Evaluate</a:t>
            </a:r>
            <a:r>
              <a:rPr spc="-80"/>
              <a:t> </a:t>
            </a:r>
            <a:r>
              <a:t>the</a:t>
            </a:r>
            <a:r>
              <a:rPr spc="-20"/>
              <a:t> </a:t>
            </a:r>
            <a:r>
              <a:rPr spc="-10"/>
              <a:t>performance</a:t>
            </a:r>
            <a:r>
              <a:rPr spc="-80"/>
              <a:t> </a:t>
            </a:r>
            <a:r>
              <a:t>of</a:t>
            </a:r>
            <a:r>
              <a:rPr spc="-70"/>
              <a:t> </a:t>
            </a:r>
            <a:r>
              <a:t>the</a:t>
            </a:r>
            <a:r>
              <a:rPr spc="-20"/>
              <a:t> </a:t>
            </a:r>
            <a:r>
              <a:t>parallel</a:t>
            </a:r>
            <a:r>
              <a:rPr spc="-45"/>
              <a:t> </a:t>
            </a:r>
            <a:r>
              <a:t>algorithm</a:t>
            </a:r>
            <a:r>
              <a:rPr spc="-60"/>
              <a:t> </a:t>
            </a:r>
            <a:r>
              <a:t>by</a:t>
            </a:r>
            <a:r>
              <a:rPr spc="-55"/>
              <a:t> </a:t>
            </a:r>
            <a:r>
              <a:t>comparing</a:t>
            </a:r>
            <a:r>
              <a:rPr spc="-90"/>
              <a:t> </a:t>
            </a:r>
            <a:r>
              <a:t>against</a:t>
            </a:r>
            <a:r>
              <a:rPr spc="-70"/>
              <a:t> </a:t>
            </a:r>
            <a:r>
              <a:rPr spc="-25"/>
              <a:t>the</a:t>
            </a:r>
          </a:p>
          <a:p>
            <a:pPr marL="326390">
              <a:lnSpc>
                <a:spcPct val="100000"/>
              </a:lnSpc>
              <a:spcBef>
                <a:spcPts val="50"/>
              </a:spcBef>
            </a:pPr>
            <a:r>
              <a:t>existing</a:t>
            </a:r>
            <a:r>
              <a:rPr spc="-90"/>
              <a:t> </a:t>
            </a:r>
            <a:r>
              <a:t>serial</a:t>
            </a:r>
            <a:r>
              <a:rPr spc="-45"/>
              <a:t> </a:t>
            </a:r>
            <a:r>
              <a:rPr spc="-10"/>
              <a:t>baseline</a:t>
            </a:r>
          </a:p>
          <a:p>
            <a:pPr marL="326390" marR="5080" indent="-120650">
              <a:lnSpc>
                <a:spcPts val="2860"/>
              </a:lnSpc>
              <a:spcBef>
                <a:spcPts val="690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rPr spc="-10"/>
              <a:t>(Before submitting</a:t>
            </a:r>
            <a:r>
              <a:rPr spc="-85"/>
              <a:t> </a:t>
            </a:r>
            <a:r>
              <a:t>the</a:t>
            </a:r>
            <a:r>
              <a:rPr spc="-10"/>
              <a:t> proposal,</a:t>
            </a:r>
            <a:r>
              <a:rPr spc="-75"/>
              <a:t> </a:t>
            </a:r>
            <a:r>
              <a:t>you</a:t>
            </a:r>
            <a:r>
              <a:rPr spc="-65"/>
              <a:t> </a:t>
            </a:r>
            <a:r>
              <a:t>should</a:t>
            </a:r>
            <a:r>
              <a:rPr spc="-70"/>
              <a:t> </a:t>
            </a:r>
            <a:r>
              <a:t>have</a:t>
            </a:r>
            <a:r>
              <a:rPr spc="-70"/>
              <a:t> </a:t>
            </a:r>
            <a:r>
              <a:t>a</a:t>
            </a:r>
            <a:r>
              <a:rPr spc="-40"/>
              <a:t> </a:t>
            </a:r>
            <a:r>
              <a:t>rough</a:t>
            </a:r>
            <a:r>
              <a:rPr spc="-70"/>
              <a:t> </a:t>
            </a:r>
            <a:r>
              <a:t>idea</a:t>
            </a:r>
            <a:r>
              <a:rPr spc="-35"/>
              <a:t> </a:t>
            </a:r>
            <a:r>
              <a:t>of</a:t>
            </a:r>
            <a:r>
              <a:rPr spc="-60"/>
              <a:t> </a:t>
            </a:r>
            <a:r>
              <a:t>how</a:t>
            </a:r>
            <a:r>
              <a:rPr spc="-75"/>
              <a:t> </a:t>
            </a:r>
            <a:r>
              <a:t>to</a:t>
            </a:r>
            <a:r>
              <a:rPr spc="-65"/>
              <a:t> </a:t>
            </a:r>
            <a:r>
              <a:rPr spc="-10"/>
              <a:t>parallelize </a:t>
            </a:r>
            <a:r>
              <a:t>the</a:t>
            </a:r>
            <a:r>
              <a:rPr spc="-75"/>
              <a:t> </a:t>
            </a:r>
            <a:r>
              <a:t>problem</a:t>
            </a:r>
            <a:r>
              <a:rPr spc="-45"/>
              <a:t> </a:t>
            </a:r>
            <a:r>
              <a:t>you</a:t>
            </a:r>
            <a:r>
              <a:rPr spc="-70"/>
              <a:t> </a:t>
            </a:r>
            <a:r>
              <a:t>have</a:t>
            </a:r>
            <a:r>
              <a:rPr spc="-70"/>
              <a:t> </a:t>
            </a:r>
            <a:r>
              <a:rPr spc="-10"/>
              <a:t>chosen)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808335" cy="3707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Implement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Evaluate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Implement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2-</a:t>
            </a:r>
            <a:r>
              <a:rPr sz="2400">
                <a:latin typeface="Calibri"/>
                <a:cs typeface="Calibri"/>
              </a:rPr>
              <a:t>3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already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existing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b="1" spc="-10">
                <a:latin typeface="Calibri"/>
                <a:cs typeface="Calibri"/>
              </a:rPr>
              <a:t>algorithms</a:t>
            </a:r>
            <a:endParaRPr sz="2400">
              <a:latin typeface="Calibri"/>
              <a:cs typeface="Calibri"/>
            </a:endParaRPr>
          </a:p>
          <a:p>
            <a:pPr marL="560070" lvl="1" indent="-16129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560070" algn="l"/>
              </a:tabLst>
            </a:pPr>
            <a:r>
              <a:rPr sz="2250" b="1" spc="-10">
                <a:latin typeface="Calibri"/>
                <a:cs typeface="Calibri"/>
              </a:rPr>
              <a:t>For</a:t>
            </a:r>
            <a:r>
              <a:rPr sz="2250" b="1" spc="-12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example,</a:t>
            </a:r>
            <a:r>
              <a:rPr sz="2250" b="1" spc="-75">
                <a:latin typeface="Calibri"/>
                <a:cs typeface="Calibri"/>
              </a:rPr>
              <a:t> </a:t>
            </a:r>
            <a:r>
              <a:rPr sz="2250" b="1" spc="-25">
                <a:latin typeface="Calibri"/>
                <a:cs typeface="Calibri"/>
              </a:rPr>
              <a:t>different</a:t>
            </a:r>
            <a:r>
              <a:rPr sz="2250" b="1" spc="-95">
                <a:latin typeface="Calibri"/>
                <a:cs typeface="Calibri"/>
              </a:rPr>
              <a:t> </a:t>
            </a:r>
            <a:r>
              <a:rPr sz="2250" b="1">
                <a:latin typeface="Calibri"/>
                <a:cs typeface="Calibri"/>
              </a:rPr>
              <a:t>ways</a:t>
            </a:r>
            <a:r>
              <a:rPr sz="2250" b="1" spc="-65">
                <a:latin typeface="Calibri"/>
                <a:cs typeface="Calibri"/>
              </a:rPr>
              <a:t> </a:t>
            </a:r>
            <a:r>
              <a:rPr sz="2250" b="1">
                <a:latin typeface="Calibri"/>
                <a:cs typeface="Calibri"/>
              </a:rPr>
              <a:t>of</a:t>
            </a:r>
            <a:r>
              <a:rPr sz="2250" b="1" spc="-100">
                <a:latin typeface="Calibri"/>
                <a:cs typeface="Calibri"/>
              </a:rPr>
              <a:t> </a:t>
            </a:r>
            <a:r>
              <a:rPr sz="2250" b="1">
                <a:latin typeface="Calibri"/>
                <a:cs typeface="Calibri"/>
              </a:rPr>
              <a:t>doing</a:t>
            </a:r>
            <a:r>
              <a:rPr sz="2250" b="1" spc="-8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matrix</a:t>
            </a:r>
            <a:r>
              <a:rPr sz="2250" b="1" spc="-5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multiplication.</a:t>
            </a:r>
            <a:r>
              <a:rPr sz="2250" b="1" spc="-70">
                <a:latin typeface="Calibri"/>
                <a:cs typeface="Calibri"/>
              </a:rPr>
              <a:t> </a:t>
            </a:r>
            <a:r>
              <a:rPr sz="2250" b="1" spc="-35">
                <a:latin typeface="Calibri"/>
                <a:cs typeface="Calibri"/>
              </a:rPr>
              <a:t>NOT</a:t>
            </a:r>
            <a:r>
              <a:rPr sz="2250" b="1" spc="-9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DIFFERENT</a:t>
            </a:r>
            <a:r>
              <a:rPr sz="2250" b="1" spc="-12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LIBRARIES</a:t>
            </a:r>
            <a:endParaRPr sz="225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  <a:spcBef>
                <a:spcPts val="5"/>
              </a:spcBef>
            </a:pPr>
            <a:r>
              <a:rPr sz="2250" b="1" spc="-10">
                <a:latin typeface="Calibri"/>
                <a:cs typeface="Calibri"/>
              </a:rPr>
              <a:t>(Pthreads,</a:t>
            </a:r>
            <a:r>
              <a:rPr sz="2250" b="1" spc="-105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OpenMP)</a:t>
            </a:r>
            <a:endParaRPr sz="225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0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Compare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evaluate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various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benchmarks/datasets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Benchmark/dataset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selection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will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important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  <a:p>
            <a:pPr marL="326390" marR="5080" indent="-120650">
              <a:lnSpc>
                <a:spcPct val="100400"/>
              </a:lnSpc>
              <a:spcBef>
                <a:spcPts val="56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(Before submitting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proposal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have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idea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what</a:t>
            </a:r>
            <a:r>
              <a:rPr sz="2400" spc="-1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kind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of </a:t>
            </a:r>
            <a:r>
              <a:rPr sz="2400" spc="-10">
                <a:latin typeface="Calibri"/>
                <a:cs typeface="Calibri"/>
              </a:rPr>
              <a:t>Benchmark/datasets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looking</a:t>
            </a:r>
            <a:r>
              <a:rPr sz="2400" spc="25">
                <a:latin typeface="Calibri"/>
                <a:cs typeface="Calibri"/>
              </a:rPr>
              <a:t> </a:t>
            </a:r>
            <a:r>
              <a:rPr sz="2400" spc="-60">
                <a:latin typeface="Calibri"/>
                <a:cs typeface="Calibri"/>
              </a:rPr>
              <a:t>for.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This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shows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have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understood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480040" cy="30302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Complete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application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parallelization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Implement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end-</a:t>
            </a:r>
            <a:r>
              <a:rPr sz="2400" spc="-20">
                <a:latin typeface="Calibri"/>
                <a:cs typeface="Calibri"/>
              </a:rPr>
              <a:t>to-</a:t>
            </a:r>
            <a:r>
              <a:rPr sz="2400">
                <a:latin typeface="Calibri"/>
                <a:cs typeface="Calibri"/>
              </a:rPr>
              <a:t>end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have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core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parallelizable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0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have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supporting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preprocessing/postprocessing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Evaluation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criteria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needs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proposed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based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 spc="-25">
                <a:latin typeface="Calibri"/>
                <a:cs typeface="Calibri"/>
              </a:rPr>
              <a:t>(You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can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include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figure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proposal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showing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end-</a:t>
            </a:r>
            <a:r>
              <a:rPr sz="2400" spc="-20">
                <a:latin typeface="Calibri"/>
                <a:cs typeface="Calibri"/>
              </a:rPr>
              <a:t>to-</a:t>
            </a:r>
            <a:r>
              <a:rPr sz="2400">
                <a:latin typeface="Calibri"/>
                <a:cs typeface="Calibri"/>
              </a:rPr>
              <a:t>end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application.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Also</a:t>
            </a:r>
            <a:endParaRPr sz="2400">
              <a:latin typeface="Calibri"/>
              <a:cs typeface="Calibri"/>
            </a:endParaRPr>
          </a:p>
          <a:p>
            <a:pPr marL="326390">
              <a:lnSpc>
                <a:spcPct val="100000"/>
              </a:lnSpc>
              <a:spcBef>
                <a:spcPts val="50"/>
              </a:spcBef>
            </a:pPr>
            <a:r>
              <a:rPr sz="2400">
                <a:latin typeface="Calibri"/>
                <a:cs typeface="Calibri"/>
              </a:rPr>
              <a:t>include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outline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regarding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how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your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project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evaluated)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8534400" cy="53003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Project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Proposal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Template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Introduction: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Background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0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 spc="-10">
                <a:latin typeface="Calibri"/>
                <a:cs typeface="Calibri"/>
              </a:rPr>
              <a:t>Contributions/hypotheses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Description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 spc="-20">
                <a:latin typeface="Calibri"/>
                <a:cs typeface="Calibri"/>
              </a:rPr>
              <a:t>Parallelization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techniques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proposing</a:t>
            </a:r>
            <a:r>
              <a:rPr sz="2400" spc="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new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Selection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criteria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benchmarks</a:t>
            </a:r>
            <a:r>
              <a:rPr sz="2400" spc="-114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if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comparing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algorithms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650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Description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application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developing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 spc="-10">
                <a:latin typeface="Calibri"/>
                <a:cs typeface="Calibri"/>
              </a:rPr>
              <a:t>Implementation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platform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20">
                <a:latin typeface="Calibri"/>
                <a:cs typeface="Calibri"/>
              </a:rPr>
              <a:t>Evaluation/Criteria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Success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  <a:tab pos="3388995" algn="l"/>
              </a:tabLst>
            </a:pPr>
            <a:r>
              <a:rPr sz="2400">
                <a:latin typeface="Calibri"/>
                <a:cs typeface="Calibri"/>
              </a:rPr>
              <a:t>Mention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any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datasets,</a:t>
            </a:r>
            <a:r>
              <a:rPr sz="2400">
                <a:latin typeface="Calibri"/>
                <a:cs typeface="Calibri"/>
              </a:rPr>
              <a:t>	</a:t>
            </a:r>
            <a:r>
              <a:rPr sz="2400" spc="-10">
                <a:latin typeface="Calibri"/>
                <a:cs typeface="Calibri"/>
              </a:rPr>
              <a:t>evaluation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metrics,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will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using.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We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will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proposals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give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feedback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40"/>
              <a:t> </a:t>
            </a:r>
            <a:r>
              <a:t>Research,</a:t>
            </a:r>
            <a:r>
              <a:rPr spc="-150"/>
              <a:t> </a:t>
            </a:r>
            <a:r>
              <a:t>Implement,</a:t>
            </a:r>
            <a:r>
              <a:rPr spc="-85"/>
              <a:t> </a:t>
            </a:r>
            <a:r>
              <a:rPr spc="-10"/>
              <a:t>Evaluate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225486"/>
            <a:ext cx="10729595" cy="36023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>
              <a:lnSpc>
                <a:spcPct val="101200"/>
              </a:lnSpc>
              <a:spcBef>
                <a:spcPts val="90"/>
              </a:spcBef>
              <a:buFont typeface="Arial"/>
              <a:buChar char="•"/>
              <a:tabLst>
                <a:tab pos="355600" algn="l"/>
              </a:tabLst>
            </a:pPr>
            <a:r>
              <a:rPr sz="2600" spc="-20">
                <a:latin typeface="Calibri"/>
                <a:cs typeface="Calibri"/>
              </a:rPr>
              <a:t>Parallelization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Louvain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Community</a:t>
            </a:r>
            <a:r>
              <a:rPr sz="2600" spc="-9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Detection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Algorithm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Large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Scale Graphs</a:t>
            </a:r>
            <a:endParaRPr sz="2600">
              <a:latin typeface="Calibri"/>
              <a:cs typeface="Calibri"/>
            </a:endParaRPr>
          </a:p>
          <a:p>
            <a:pPr marL="157480" marR="298450" indent="-144780">
              <a:lnSpc>
                <a:spcPct val="101099"/>
              </a:lnSpc>
              <a:spcBef>
                <a:spcPts val="600"/>
              </a:spcBef>
              <a:buFont typeface="Arial"/>
              <a:buChar char="•"/>
              <a:tabLst>
                <a:tab pos="157480" algn="l"/>
              </a:tabLst>
            </a:pPr>
            <a:r>
              <a:rPr sz="2600" b="1">
                <a:latin typeface="Calibri"/>
                <a:cs typeface="Calibri"/>
              </a:rPr>
              <a:t>Problem</a:t>
            </a:r>
            <a:r>
              <a:rPr sz="2600" b="1" spc="-70">
                <a:latin typeface="Calibri"/>
                <a:cs typeface="Calibri"/>
              </a:rPr>
              <a:t> </a:t>
            </a:r>
            <a:r>
              <a:rPr sz="2600" b="1">
                <a:latin typeface="Calibri"/>
                <a:cs typeface="Calibri"/>
              </a:rPr>
              <a:t>Definition:</a:t>
            </a:r>
            <a:r>
              <a:rPr sz="2600" b="1" spc="-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Given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 graph </a:t>
            </a:r>
            <a:r>
              <a:rPr sz="2600">
                <a:latin typeface="Cambria Math"/>
                <a:cs typeface="Cambria Math"/>
              </a:rPr>
              <a:t>𝐺(𝑉,</a:t>
            </a:r>
            <a:r>
              <a:rPr sz="2600" spc="-145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𝐸)</a:t>
            </a:r>
            <a:r>
              <a:rPr sz="2600" spc="-30">
                <a:latin typeface="Cambria Math"/>
                <a:cs typeface="Cambria Math"/>
              </a:rPr>
              <a:t> </a:t>
            </a:r>
            <a:r>
              <a:rPr sz="2600">
                <a:latin typeface="Calibri"/>
                <a:cs typeface="Calibri"/>
              </a:rPr>
              <a:t>identify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subsets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 vertices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which </a:t>
            </a:r>
            <a:r>
              <a:rPr sz="2600">
                <a:latin typeface="Calibri"/>
                <a:cs typeface="Calibri"/>
              </a:rPr>
              <a:t>are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densely</a:t>
            </a:r>
            <a:r>
              <a:rPr sz="2600" spc="-10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connected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to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each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other</a:t>
            </a:r>
            <a:endParaRPr sz="2600">
              <a:latin typeface="Calibri"/>
              <a:cs typeface="Calibri"/>
            </a:endParaRPr>
          </a:p>
          <a:p>
            <a:pPr marL="156845" indent="-14414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56845" algn="l"/>
              </a:tabLst>
            </a:pPr>
            <a:r>
              <a:rPr sz="2600" spc="-10">
                <a:latin typeface="Calibri"/>
                <a:cs typeface="Calibri"/>
              </a:rPr>
              <a:t>Contributions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0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Develop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parallelization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technique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problem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0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hybrid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MPI/OpenMP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0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Comparison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against</a:t>
            </a:r>
            <a:r>
              <a:rPr sz="2600" spc="-10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serial</a:t>
            </a:r>
            <a:r>
              <a:rPr sz="2600" spc="-114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baseline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40"/>
              <a:t> </a:t>
            </a:r>
            <a:r>
              <a:t>Research,</a:t>
            </a:r>
            <a:r>
              <a:rPr spc="-150"/>
              <a:t> </a:t>
            </a:r>
            <a:r>
              <a:t>Implement,</a:t>
            </a:r>
            <a:r>
              <a:rPr spc="-85"/>
              <a:t> </a:t>
            </a:r>
            <a:r>
              <a:rPr spc="-10"/>
              <a:t>Evaluate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48905"/>
            <a:ext cx="9548495" cy="24104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469900" algn="l"/>
              </a:tabLst>
            </a:pPr>
            <a:r>
              <a:rPr sz="2600">
                <a:latin typeface="Calibri"/>
                <a:cs typeface="Calibri"/>
              </a:rPr>
              <a:t>Frequency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Domain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Acceleration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CNN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on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 spc="-20">
                <a:latin typeface="Calibri"/>
                <a:cs typeface="Calibri"/>
              </a:rPr>
              <a:t>GPUs</a:t>
            </a:r>
            <a:endParaRPr sz="26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156210" algn="l"/>
              </a:tabLst>
            </a:pPr>
            <a:r>
              <a:rPr sz="2600" spc="-10">
                <a:latin typeface="Calibri"/>
                <a:cs typeface="Calibri"/>
              </a:rPr>
              <a:t>Contributions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0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Develop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parallelization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technique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problem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suitable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 spc="-25">
                <a:latin typeface="Calibri"/>
                <a:cs typeface="Calibri"/>
              </a:rPr>
              <a:t>GPU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5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GPU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based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5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Comparison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against</a:t>
            </a:r>
            <a:r>
              <a:rPr sz="2600" spc="-10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serial</a:t>
            </a:r>
            <a:r>
              <a:rPr sz="2600" spc="-12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baseline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0409" y="332740"/>
            <a:ext cx="56356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40"/>
              <a:t> </a:t>
            </a:r>
            <a:r>
              <a:t>Implement,</a:t>
            </a:r>
            <a:r>
              <a:rPr spc="-90"/>
              <a:t> </a:t>
            </a:r>
            <a:r>
              <a:rPr spc="-10"/>
              <a:t>Evaluate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246995" cy="29540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Benchmarking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short-range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molecular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dynamics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865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b="1">
                <a:latin typeface="Calibri"/>
                <a:cs typeface="Calibri"/>
              </a:rPr>
              <a:t>Problem</a:t>
            </a:r>
            <a:r>
              <a:rPr sz="2400" b="1" spc="-8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Definition:</a:t>
            </a:r>
            <a:r>
              <a:rPr sz="2400" b="1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Compare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existing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Molecular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Dynamics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ts val="2865"/>
              </a:lnSpc>
            </a:pPr>
            <a:r>
              <a:rPr sz="2400">
                <a:latin typeface="Calibri"/>
                <a:cs typeface="Calibri"/>
              </a:rPr>
              <a:t>(simulating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properties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liquids,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solids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molecules)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Contributions:</a:t>
            </a:r>
            <a:endParaRPr sz="2400">
              <a:latin typeface="Calibri"/>
              <a:cs typeface="Calibri"/>
            </a:endParaRPr>
          </a:p>
          <a:p>
            <a:pPr marL="326390" marR="984250" indent="-120650">
              <a:lnSpc>
                <a:spcPts val="2850"/>
              </a:lnSpc>
              <a:spcBef>
                <a:spcPts val="69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Implementation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2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existing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(discussed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in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http://www.sciencedirect.com/science/article/pii/S002199918571039X</a:t>
            </a:r>
            <a:r>
              <a:rPr sz="2400" u="none" spc="-1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490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Perform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scalability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analysis: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Evaluate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performance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terms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problem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0409" y="332740"/>
            <a:ext cx="56356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40"/>
              <a:t> </a:t>
            </a:r>
            <a:r>
              <a:t>Implement,</a:t>
            </a:r>
            <a:r>
              <a:rPr spc="-90"/>
              <a:t> </a:t>
            </a:r>
            <a:r>
              <a:rPr spc="-10"/>
              <a:t>Evaluate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6275" y="1162240"/>
            <a:ext cx="10469245" cy="309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689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68910" algn="l"/>
              </a:tabLst>
            </a:pPr>
            <a:r>
              <a:rPr sz="2400" spc="-10">
                <a:latin typeface="Calibri"/>
                <a:cs typeface="Calibri"/>
              </a:rPr>
              <a:t>Benchmarking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collaborative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filtering</a:t>
            </a:r>
            <a:endParaRPr sz="2400">
              <a:latin typeface="Calibri"/>
              <a:cs typeface="Calibri"/>
            </a:endParaRPr>
          </a:p>
          <a:p>
            <a:pPr marL="1689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68910" algn="l"/>
              </a:tabLst>
            </a:pPr>
            <a:r>
              <a:rPr sz="2400" b="1">
                <a:latin typeface="Calibri"/>
                <a:cs typeface="Calibri"/>
              </a:rPr>
              <a:t>Problem</a:t>
            </a:r>
            <a:r>
              <a:rPr sz="2400" b="1" spc="-110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Definition:</a:t>
            </a:r>
            <a:r>
              <a:rPr sz="2400" b="1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Compare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existing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1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114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Collaborative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Filtering</a:t>
            </a:r>
            <a:endParaRPr sz="2400">
              <a:latin typeface="Calibri"/>
              <a:cs typeface="Calibri"/>
            </a:endParaRPr>
          </a:p>
          <a:p>
            <a:pPr marL="1689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68910" algn="l"/>
              </a:tabLst>
            </a:pPr>
            <a:r>
              <a:rPr sz="2400" spc="-10">
                <a:latin typeface="Calibri"/>
                <a:cs typeface="Calibri"/>
              </a:rPr>
              <a:t>Contributions:</a:t>
            </a:r>
            <a:endParaRPr sz="2400">
              <a:latin typeface="Calibri"/>
              <a:cs typeface="Calibri"/>
            </a:endParaRPr>
          </a:p>
          <a:p>
            <a:pPr marL="218440">
              <a:lnSpc>
                <a:spcPct val="100000"/>
              </a:lnSpc>
              <a:spcBef>
                <a:spcPts val="570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Implementation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2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existing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algorithms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5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5175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17525" algn="l"/>
              </a:tabLst>
            </a:pPr>
            <a:r>
              <a:rPr sz="2400">
                <a:latin typeface="Calibri"/>
                <a:cs typeface="Calibri"/>
              </a:rPr>
              <a:t>1.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Co-clustering</a:t>
            </a:r>
            <a:r>
              <a:rPr sz="2325" spc="-15" baseline="26881">
                <a:latin typeface="Calibri"/>
                <a:cs typeface="Calibri"/>
              </a:rPr>
              <a:t>1</a:t>
            </a:r>
            <a:endParaRPr sz="2325" baseline="26881">
              <a:latin typeface="Calibri"/>
              <a:cs typeface="Calibri"/>
            </a:endParaRPr>
          </a:p>
          <a:p>
            <a:pPr marL="5175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17525" algn="l"/>
              </a:tabLst>
            </a:pPr>
            <a:r>
              <a:rPr sz="2400">
                <a:latin typeface="Calibri"/>
                <a:cs typeface="Calibri"/>
              </a:rPr>
              <a:t>2.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Alternative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Least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Squares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with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Weighted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Regularization</a:t>
            </a:r>
            <a:r>
              <a:rPr sz="2325" spc="-15" baseline="26881">
                <a:latin typeface="Calibri"/>
                <a:cs typeface="Calibri"/>
              </a:rPr>
              <a:t>2</a:t>
            </a:r>
            <a:endParaRPr sz="2325" baseline="26881">
              <a:latin typeface="Calibri"/>
              <a:cs typeface="Calibri"/>
            </a:endParaRPr>
          </a:p>
          <a:p>
            <a:pPr marL="218440">
              <a:lnSpc>
                <a:spcPct val="100000"/>
              </a:lnSpc>
              <a:spcBef>
                <a:spcPts val="575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Perform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scalability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analysis: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Evaluate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performance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terms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problem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2845" y="5593715"/>
            <a:ext cx="637667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indent="-151765">
              <a:lnSpc>
                <a:spcPts val="1435"/>
              </a:lnSpc>
              <a:spcBef>
                <a:spcPts val="100"/>
              </a:spcBef>
              <a:buAutoNum type="arabicPeriod"/>
              <a:tabLst>
                <a:tab pos="164465" algn="l"/>
              </a:tabLst>
            </a:pPr>
            <a:r>
              <a:rPr sz="1200" spc="-10">
                <a:latin typeface="Calibri"/>
                <a:cs typeface="Calibri"/>
                <a:hlinkClick r:id="rId2"/>
              </a:rPr>
              <a:t>http://ieeexplore.ieee.org/abstract/document/1565742/</a:t>
            </a:r>
            <a:endParaRPr sz="1200">
              <a:latin typeface="Calibri"/>
              <a:cs typeface="Calibri"/>
            </a:endParaRPr>
          </a:p>
          <a:p>
            <a:pPr marL="164465" indent="-151765">
              <a:lnSpc>
                <a:spcPts val="1435"/>
              </a:lnSpc>
              <a:buAutoNum type="arabicPeriod"/>
              <a:tabLst>
                <a:tab pos="164465" algn="l"/>
              </a:tabLst>
            </a:pPr>
            <a:r>
              <a:rPr sz="1200" spc="-10">
                <a:latin typeface="Calibri"/>
                <a:cs typeface="Calibri"/>
                <a:hlinkClick r:id="rId3"/>
              </a:rPr>
              <a:t>http://www.grappa.univ-lille3.fr/~mary/cours/stats/centrale/reco/paper/MatrixFactorizationALS.pdf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80"/>
              <a:t> </a:t>
            </a:r>
            <a:r>
              <a:t>Application</a:t>
            </a:r>
            <a:r>
              <a:rPr spc="-145"/>
              <a:t> </a:t>
            </a:r>
            <a:r>
              <a:rPr spc="-10"/>
              <a:t>Implementation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5575" algn="l"/>
              </a:tabLst>
            </a:pPr>
            <a:r>
              <a:t>Build</a:t>
            </a:r>
            <a:r>
              <a:rPr spc="-60"/>
              <a:t> </a:t>
            </a:r>
            <a:r>
              <a:t>a</a:t>
            </a:r>
            <a:r>
              <a:rPr spc="-90"/>
              <a:t> </a:t>
            </a:r>
            <a:r>
              <a:t>distributed</a:t>
            </a:r>
            <a:r>
              <a:rPr spc="-55"/>
              <a:t> </a:t>
            </a:r>
            <a:r>
              <a:rPr spc="-10"/>
              <a:t>regression</a:t>
            </a:r>
            <a:r>
              <a:rPr spc="-60"/>
              <a:t> </a:t>
            </a:r>
            <a:r>
              <a:t>tree-based</a:t>
            </a:r>
            <a:r>
              <a:rPr spc="-50"/>
              <a:t> </a:t>
            </a:r>
            <a:r>
              <a:rPr spc="-10"/>
              <a:t>classifier</a:t>
            </a:r>
          </a:p>
          <a:p>
            <a:pPr marL="155575" indent="-142875">
              <a:lnSpc>
                <a:spcPts val="2865"/>
              </a:lnSpc>
              <a:spcBef>
                <a:spcPts val="575"/>
              </a:spcBef>
              <a:buFont typeface="Arial"/>
              <a:buChar char="•"/>
              <a:tabLst>
                <a:tab pos="155575" algn="l"/>
              </a:tabLst>
            </a:pPr>
            <a:r>
              <a:rPr b="1">
                <a:latin typeface="Calibri"/>
                <a:cs typeface="Calibri"/>
              </a:rPr>
              <a:t>Problem</a:t>
            </a:r>
            <a:r>
              <a:rPr b="1" spc="-75">
                <a:latin typeface="Calibri"/>
                <a:cs typeface="Calibri"/>
              </a:rPr>
              <a:t> </a:t>
            </a:r>
            <a:r>
              <a:rPr b="1">
                <a:latin typeface="Calibri"/>
                <a:cs typeface="Calibri"/>
              </a:rPr>
              <a:t>Definition:</a:t>
            </a:r>
            <a:r>
              <a:rPr b="1" spc="-50">
                <a:latin typeface="Calibri"/>
                <a:cs typeface="Calibri"/>
              </a:rPr>
              <a:t> </a:t>
            </a:r>
            <a:r>
              <a:t>A</a:t>
            </a:r>
            <a:r>
              <a:rPr spc="-35"/>
              <a:t> </a:t>
            </a:r>
            <a:r>
              <a:rPr spc="-10"/>
              <a:t>system</a:t>
            </a:r>
            <a:r>
              <a:rPr spc="-35"/>
              <a:t> </a:t>
            </a:r>
            <a:r>
              <a:t>to</a:t>
            </a:r>
            <a:r>
              <a:rPr spc="-60"/>
              <a:t> </a:t>
            </a:r>
            <a:r>
              <a:t>perform</a:t>
            </a:r>
            <a:r>
              <a:rPr spc="-40"/>
              <a:t> </a:t>
            </a:r>
            <a:r>
              <a:t>regression</a:t>
            </a:r>
            <a:r>
              <a:rPr spc="-55"/>
              <a:t> </a:t>
            </a:r>
            <a:r>
              <a:rPr spc="-30"/>
              <a:t>tree-</a:t>
            </a:r>
            <a:r>
              <a:t>based</a:t>
            </a:r>
            <a:r>
              <a:rPr spc="-55"/>
              <a:t> </a:t>
            </a:r>
            <a:r>
              <a:rPr spc="-10"/>
              <a:t>classification</a:t>
            </a:r>
            <a:r>
              <a:rPr spc="-55"/>
              <a:t> </a:t>
            </a:r>
            <a:r>
              <a:t>on</a:t>
            </a:r>
            <a:r>
              <a:rPr spc="-60"/>
              <a:t> </a:t>
            </a:r>
            <a:r>
              <a:rPr spc="-20"/>
              <a:t>very</a:t>
            </a:r>
          </a:p>
          <a:p>
            <a:pPr marL="156210">
              <a:lnSpc>
                <a:spcPts val="2865"/>
              </a:lnSpc>
            </a:pPr>
            <a:r>
              <a:t>large</a:t>
            </a:r>
            <a:r>
              <a:rPr spc="-114"/>
              <a:t> </a:t>
            </a:r>
            <a:r>
              <a:rPr spc="-10"/>
              <a:t>datasets</a:t>
            </a:r>
          </a:p>
          <a:p>
            <a:pPr marL="155575" indent="-14287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155575" algn="l"/>
              </a:tabLst>
            </a:pPr>
            <a:r>
              <a:rPr spc="-10"/>
              <a:t>Contributions:</a:t>
            </a:r>
          </a:p>
          <a:p>
            <a:pPr marL="325755" marR="285750" indent="-120014">
              <a:lnSpc>
                <a:spcPts val="2850"/>
              </a:lnSpc>
              <a:spcBef>
                <a:spcPts val="695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t>A</a:t>
            </a:r>
            <a:r>
              <a:rPr spc="-75"/>
              <a:t> </a:t>
            </a:r>
            <a:r>
              <a:t>work</a:t>
            </a:r>
            <a:r>
              <a:rPr spc="-75"/>
              <a:t> </a:t>
            </a:r>
            <a:r>
              <a:t>scheduling/data</a:t>
            </a:r>
            <a:r>
              <a:rPr spc="-60"/>
              <a:t> </a:t>
            </a:r>
            <a:r>
              <a:t>partitioning</a:t>
            </a:r>
            <a:r>
              <a:rPr spc="-105"/>
              <a:t> </a:t>
            </a:r>
            <a:r>
              <a:t>algorithm</a:t>
            </a:r>
            <a:r>
              <a:rPr spc="-135"/>
              <a:t> </a:t>
            </a:r>
            <a:r>
              <a:t>optimized</a:t>
            </a:r>
            <a:r>
              <a:rPr spc="-85"/>
              <a:t> </a:t>
            </a:r>
            <a:r>
              <a:t>for</a:t>
            </a:r>
            <a:r>
              <a:rPr spc="-110"/>
              <a:t> </a:t>
            </a:r>
            <a:r>
              <a:t>regression</a:t>
            </a:r>
            <a:r>
              <a:rPr spc="-90"/>
              <a:t> </a:t>
            </a:r>
            <a:r>
              <a:t>tree</a:t>
            </a:r>
            <a:r>
              <a:rPr spc="-95"/>
              <a:t> </a:t>
            </a:r>
            <a:r>
              <a:rPr spc="-20"/>
              <a:t>type </a:t>
            </a:r>
            <a:r>
              <a:t>data</a:t>
            </a:r>
            <a:r>
              <a:rPr spc="-65"/>
              <a:t> </a:t>
            </a:r>
            <a:r>
              <a:t>access</a:t>
            </a:r>
            <a:r>
              <a:rPr spc="-65"/>
              <a:t> </a:t>
            </a:r>
            <a:r>
              <a:rPr spc="-10"/>
              <a:t>pattern</a:t>
            </a:r>
          </a:p>
          <a:p>
            <a:pPr marL="205740">
              <a:lnSpc>
                <a:spcPct val="100000"/>
              </a:lnSpc>
              <a:spcBef>
                <a:spcPts val="490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rPr spc="-10"/>
              <a:t>Implementation</a:t>
            </a:r>
            <a:r>
              <a:rPr spc="-35"/>
              <a:t> </a:t>
            </a:r>
            <a:r>
              <a:t>of</a:t>
            </a:r>
            <a:r>
              <a:rPr spc="-25"/>
              <a:t> </a:t>
            </a:r>
            <a:r>
              <a:t>a</a:t>
            </a:r>
            <a:r>
              <a:rPr spc="-60"/>
              <a:t> </a:t>
            </a:r>
            <a:r>
              <a:rPr spc="-10"/>
              <a:t>system</a:t>
            </a:r>
            <a:r>
              <a:rPr spc="-80"/>
              <a:t> </a:t>
            </a:r>
            <a:r>
              <a:t>which</a:t>
            </a:r>
            <a:r>
              <a:rPr spc="-30"/>
              <a:t> </a:t>
            </a:r>
            <a:r>
              <a:rPr spc="-10"/>
              <a:t>performs</a:t>
            </a:r>
            <a:r>
              <a:rPr spc="-80"/>
              <a:t> </a:t>
            </a:r>
            <a:r>
              <a:rPr spc="-10"/>
              <a:t>classification.</a:t>
            </a: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>
                <a:latin typeface="Arial"/>
                <a:cs typeface="Arial"/>
              </a:rPr>
              <a:t>–</a:t>
            </a:r>
            <a:r>
              <a:rPr spc="-10"/>
              <a:t>Performance</a:t>
            </a:r>
            <a:r>
              <a:rPr spc="-15"/>
              <a:t> </a:t>
            </a:r>
            <a:r>
              <a:rPr spc="-10"/>
              <a:t>evaluation</a:t>
            </a:r>
            <a:r>
              <a:rPr spc="-70"/>
              <a:t> </a:t>
            </a:r>
            <a:r>
              <a:t>of</a:t>
            </a:r>
            <a:r>
              <a:rPr spc="-65"/>
              <a:t> </a:t>
            </a:r>
            <a:r>
              <a:t>the</a:t>
            </a:r>
            <a:r>
              <a:rPr spc="-75"/>
              <a:t> </a:t>
            </a:r>
            <a:r>
              <a:rPr spc="-10"/>
              <a:t>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6960">
              <a:lnSpc>
                <a:spcPct val="100000"/>
              </a:lnSpc>
              <a:spcBef>
                <a:spcPts val="105"/>
              </a:spcBef>
            </a:pPr>
            <a:r>
              <a:t>More</a:t>
            </a:r>
            <a:r>
              <a:rPr spc="-75"/>
              <a:t> </a:t>
            </a:r>
            <a:r>
              <a:rPr spc="-1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238694"/>
            <a:ext cx="10794365" cy="33928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20">
                <a:latin typeface="Calibri"/>
                <a:cs typeface="Calibri"/>
              </a:rPr>
              <a:t>Triangle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counting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large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graphs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using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SpMM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GPU</a:t>
            </a:r>
            <a:endParaRPr sz="2400">
              <a:latin typeface="Calibri"/>
              <a:cs typeface="Calibri"/>
            </a:endParaRPr>
          </a:p>
          <a:p>
            <a:pPr marL="156210" marR="965835" indent="-143510">
              <a:lnSpc>
                <a:spcPts val="2850"/>
              </a:lnSpc>
              <a:spcBef>
                <a:spcPts val="695"/>
              </a:spcBef>
              <a:buFont typeface="Arial"/>
              <a:buChar char="•"/>
              <a:tabLst>
                <a:tab pos="157480" algn="l"/>
              </a:tabLst>
            </a:pPr>
            <a:r>
              <a:rPr sz="2400">
                <a:latin typeface="Calibri"/>
                <a:cs typeface="Calibri"/>
              </a:rPr>
              <a:t>Ray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tracer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with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Pthreads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CUDA: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Evaluating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CUDA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performance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control-	intensive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applications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Parallel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first-</a:t>
            </a:r>
            <a:r>
              <a:rPr sz="2400">
                <a:latin typeface="Calibri"/>
                <a:cs typeface="Calibri"/>
              </a:rPr>
              <a:t>order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logic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inference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870"/>
              </a:lnSpc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Application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Predictive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Analysis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Stock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Price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using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Computation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TA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ts val="2870"/>
              </a:lnSpc>
            </a:pPr>
            <a:r>
              <a:rPr sz="2400" spc="-10">
                <a:latin typeface="Calibri"/>
                <a:cs typeface="Calibri"/>
              </a:rPr>
              <a:t>Indicators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Parallelizing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Image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Processing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Filters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5865">
              <a:lnSpc>
                <a:spcPct val="100000"/>
              </a:lnSpc>
              <a:spcBef>
                <a:spcPts val="105"/>
              </a:spcBef>
            </a:pPr>
            <a:r>
              <a:t>Good</a:t>
            </a:r>
            <a:r>
              <a:rPr spc="-45"/>
              <a:t> </a:t>
            </a:r>
            <a:r>
              <a:rPr spc="-10"/>
              <a:t>Projects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378303"/>
            <a:ext cx="10041255" cy="171703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30">
                <a:latin typeface="Calibri"/>
                <a:cs typeface="Calibri"/>
              </a:rPr>
              <a:t>Well-</a:t>
            </a:r>
            <a:r>
              <a:rPr sz="2400">
                <a:latin typeface="Calibri"/>
                <a:cs typeface="Calibri"/>
              </a:rPr>
              <a:t>defined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problem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terms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parallelization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(Triangle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counting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,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Ray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tracing)</a:t>
            </a:r>
            <a:endParaRPr sz="240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00"/>
              </a:spcBef>
              <a:buFont typeface="Arial"/>
              <a:buChar char="–"/>
              <a:tabLst>
                <a:tab pos="426084" algn="l"/>
              </a:tabLst>
            </a:pPr>
            <a:r>
              <a:rPr sz="2250" spc="-25">
                <a:latin typeface="Calibri"/>
                <a:cs typeface="Calibri"/>
              </a:rPr>
              <a:t>Understand</a:t>
            </a:r>
            <a:r>
              <a:rPr sz="2250" spc="-85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the</a:t>
            </a:r>
            <a:r>
              <a:rPr sz="2250" spc="-30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topic</a:t>
            </a:r>
            <a:r>
              <a:rPr sz="2250" spc="-75">
                <a:latin typeface="Calibri"/>
                <a:cs typeface="Calibri"/>
              </a:rPr>
              <a:t> </a:t>
            </a:r>
            <a:r>
              <a:rPr sz="2250" spc="-20">
                <a:latin typeface="Calibri"/>
                <a:cs typeface="Calibri"/>
              </a:rPr>
              <a:t>(performance</a:t>
            </a:r>
            <a:r>
              <a:rPr sz="2250" spc="-100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metrics,</a:t>
            </a:r>
            <a:r>
              <a:rPr sz="2250" spc="-65">
                <a:latin typeface="Calibri"/>
                <a:cs typeface="Calibri"/>
              </a:rPr>
              <a:t> </a:t>
            </a:r>
            <a:r>
              <a:rPr sz="2250" spc="-10">
                <a:latin typeface="Calibri"/>
                <a:cs typeface="Calibri"/>
              </a:rPr>
              <a:t>dataset,</a:t>
            </a:r>
            <a:r>
              <a:rPr sz="2250" spc="-70">
                <a:latin typeface="Calibri"/>
                <a:cs typeface="Calibri"/>
              </a:rPr>
              <a:t> </a:t>
            </a:r>
            <a:r>
              <a:rPr sz="2250" spc="-25">
                <a:latin typeface="Calibri"/>
                <a:cs typeface="Calibri"/>
              </a:rPr>
              <a:t>terminology,</a:t>
            </a:r>
            <a:r>
              <a:rPr sz="2250" spc="-65">
                <a:latin typeface="Calibri"/>
                <a:cs typeface="Calibri"/>
              </a:rPr>
              <a:t> </a:t>
            </a:r>
            <a:r>
              <a:rPr sz="2250" spc="-10">
                <a:latin typeface="Calibri"/>
                <a:cs typeface="Calibri"/>
              </a:rPr>
              <a:t>etc.)</a:t>
            </a:r>
            <a:endParaRPr sz="225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426084" algn="l"/>
              </a:tabLst>
            </a:pPr>
            <a:r>
              <a:rPr sz="2250" spc="-25">
                <a:latin typeface="Calibri"/>
                <a:cs typeface="Calibri"/>
              </a:rPr>
              <a:t>Understand</a:t>
            </a:r>
            <a:r>
              <a:rPr sz="2250" spc="-90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the</a:t>
            </a:r>
            <a:r>
              <a:rPr sz="2250" spc="-30">
                <a:latin typeface="Calibri"/>
                <a:cs typeface="Calibri"/>
              </a:rPr>
              <a:t> </a:t>
            </a:r>
            <a:r>
              <a:rPr sz="2250" spc="-10">
                <a:latin typeface="Calibri"/>
                <a:cs typeface="Calibri"/>
              </a:rPr>
              <a:t>concepts</a:t>
            </a:r>
            <a:r>
              <a:rPr sz="2250" spc="-25">
                <a:latin typeface="Calibri"/>
                <a:cs typeface="Calibri"/>
              </a:rPr>
              <a:t> </a:t>
            </a:r>
            <a:r>
              <a:rPr sz="2250" spc="-20">
                <a:latin typeface="Calibri"/>
                <a:cs typeface="Calibri"/>
              </a:rPr>
              <a:t>taught</a:t>
            </a:r>
            <a:r>
              <a:rPr sz="2250" spc="-105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in</a:t>
            </a:r>
            <a:r>
              <a:rPr sz="2250" spc="-20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the</a:t>
            </a:r>
            <a:r>
              <a:rPr sz="2250" spc="-30">
                <a:latin typeface="Calibri"/>
                <a:cs typeface="Calibri"/>
              </a:rPr>
              <a:t> </a:t>
            </a:r>
            <a:r>
              <a:rPr sz="2250" spc="-10">
                <a:latin typeface="Calibri"/>
                <a:cs typeface="Calibri"/>
              </a:rPr>
              <a:t>lecture</a:t>
            </a:r>
            <a:endParaRPr sz="225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Clear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hypothesis,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experiments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supports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hypothesis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61210">
              <a:lnSpc>
                <a:spcPct val="100000"/>
              </a:lnSpc>
              <a:spcBef>
                <a:spcPts val="105"/>
              </a:spcBef>
            </a:pPr>
            <a:r>
              <a:t>Common</a:t>
            </a:r>
            <a:r>
              <a:rPr spc="-70"/>
              <a:t> </a:t>
            </a:r>
            <a:r>
              <a:rPr spc="-20"/>
              <a:t>Mistakes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015035"/>
            <a:ext cx="10755630" cy="483743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24154" indent="-211454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24154" algn="l"/>
              </a:tabLst>
            </a:pPr>
            <a:r>
              <a:rPr sz="2400" spc="-10">
                <a:latin typeface="Calibri"/>
                <a:cs typeface="Calibri"/>
              </a:rPr>
              <a:t>Trivial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problem: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matrix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multiplication</a:t>
            </a:r>
            <a:endParaRPr sz="240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00"/>
              </a:spcBef>
              <a:buSzPct val="112500"/>
              <a:buFont typeface="Arial"/>
              <a:buChar char="–"/>
              <a:tabLst>
                <a:tab pos="426084" algn="l"/>
              </a:tabLst>
            </a:pPr>
            <a:r>
              <a:rPr sz="2000">
                <a:latin typeface="Calibri"/>
                <a:cs typeface="Calibri"/>
              </a:rPr>
              <a:t>“what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non-</a:t>
            </a:r>
            <a:r>
              <a:rPr sz="2000">
                <a:latin typeface="Calibri"/>
                <a:cs typeface="Calibri"/>
              </a:rPr>
              <a:t>trivial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part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this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problem?”</a:t>
            </a:r>
            <a:endParaRPr sz="2000">
              <a:latin typeface="Calibri"/>
              <a:cs typeface="Calibri"/>
            </a:endParaRPr>
          </a:p>
          <a:p>
            <a:pPr marL="403225" lvl="1" indent="-197485">
              <a:lnSpc>
                <a:spcPct val="100000"/>
              </a:lnSpc>
              <a:spcBef>
                <a:spcPts val="555"/>
              </a:spcBef>
              <a:buFont typeface="Arial"/>
              <a:buChar char="–"/>
              <a:tabLst>
                <a:tab pos="403225" algn="l"/>
              </a:tabLst>
            </a:pPr>
            <a:r>
              <a:rPr sz="2000">
                <a:latin typeface="Calibri"/>
                <a:cs typeface="Calibri"/>
              </a:rPr>
              <a:t>“what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parallelization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challenges?”</a:t>
            </a:r>
            <a:endParaRPr sz="2000">
              <a:latin typeface="Calibri"/>
              <a:cs typeface="Calibri"/>
            </a:endParaRPr>
          </a:p>
          <a:p>
            <a:pPr marL="224154" indent="-211454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24154" algn="l"/>
              </a:tabLst>
            </a:pPr>
            <a:r>
              <a:rPr sz="2400" spc="-10">
                <a:latin typeface="Calibri"/>
                <a:cs typeface="Calibri"/>
              </a:rPr>
              <a:t>Lengthy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hypothesis: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are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having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more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two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sentences/bullet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points,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are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ct val="100000"/>
              </a:lnSpc>
              <a:spcBef>
                <a:spcPts val="50"/>
              </a:spcBef>
            </a:pPr>
            <a:r>
              <a:rPr sz="2400">
                <a:latin typeface="Calibri"/>
                <a:cs typeface="Calibri"/>
              </a:rPr>
              <a:t>doing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wrong</a:t>
            </a:r>
            <a:endParaRPr sz="2400">
              <a:latin typeface="Calibri"/>
              <a:cs typeface="Calibri"/>
            </a:endParaRPr>
          </a:p>
          <a:p>
            <a:pPr marL="224154" indent="-211454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4154" algn="l"/>
              </a:tabLst>
            </a:pPr>
            <a:r>
              <a:rPr sz="2400">
                <a:latin typeface="Calibri"/>
                <a:cs typeface="Calibri"/>
              </a:rPr>
              <a:t>Meaningless</a:t>
            </a:r>
            <a:r>
              <a:rPr sz="2400" spc="-114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experiments</a:t>
            </a:r>
            <a:endParaRPr sz="240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00"/>
              </a:spcBef>
              <a:buSzPct val="112500"/>
              <a:buFont typeface="Arial"/>
              <a:buChar char="–"/>
              <a:tabLst>
                <a:tab pos="426084" algn="l"/>
              </a:tabLst>
            </a:pPr>
            <a:r>
              <a:rPr sz="2000" spc="-10">
                <a:latin typeface="Calibri"/>
                <a:cs typeface="Calibri"/>
              </a:rPr>
              <a:t>Implemented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using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Pthreads</a:t>
            </a:r>
            <a:r>
              <a:rPr sz="2000" spc="-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OpenMP</a:t>
            </a:r>
            <a:endParaRPr sz="2000">
              <a:latin typeface="Calibri"/>
              <a:cs typeface="Calibri"/>
            </a:endParaRPr>
          </a:p>
          <a:p>
            <a:pPr marL="403225" lvl="1" indent="-197485">
              <a:lnSpc>
                <a:spcPct val="100000"/>
              </a:lnSpc>
              <a:spcBef>
                <a:spcPts val="475"/>
              </a:spcBef>
              <a:buFont typeface="Arial"/>
              <a:buChar char="–"/>
              <a:tabLst>
                <a:tab pos="403225" algn="l"/>
              </a:tabLst>
            </a:pPr>
            <a:r>
              <a:rPr sz="2000">
                <a:latin typeface="Calibri"/>
                <a:cs typeface="Calibri"/>
              </a:rPr>
              <a:t>Ran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P100,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V100,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A100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GPUs</a:t>
            </a:r>
            <a:endParaRPr sz="2000">
              <a:latin typeface="Calibri"/>
              <a:cs typeface="Calibri"/>
            </a:endParaRPr>
          </a:p>
          <a:p>
            <a:pPr marL="224154" indent="-211454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24154" algn="l"/>
              </a:tabLst>
            </a:pPr>
            <a:r>
              <a:rPr sz="2400" spc="-10">
                <a:latin typeface="Calibri"/>
                <a:cs typeface="Calibri"/>
              </a:rPr>
              <a:t>Unreasonable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setup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(usually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due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lack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understanding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about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topic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451)</a:t>
            </a:r>
            <a:endParaRPr sz="240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75"/>
              </a:spcBef>
              <a:buSzPct val="112500"/>
              <a:buFont typeface="Arial"/>
              <a:buChar char="–"/>
              <a:tabLst>
                <a:tab pos="426084" algn="l"/>
              </a:tabLst>
            </a:pPr>
            <a:r>
              <a:rPr sz="2000">
                <a:latin typeface="Calibri"/>
                <a:cs typeface="Calibri"/>
              </a:rPr>
              <a:t>Small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  <a:p>
            <a:pPr marL="403225" lvl="1" indent="-19748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403225" algn="l"/>
              </a:tabLst>
            </a:pPr>
            <a:r>
              <a:rPr sz="2000" spc="-10">
                <a:latin typeface="Calibri"/>
                <a:cs typeface="Calibri"/>
              </a:rPr>
              <a:t>Unreasonable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magnitude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3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03225" lvl="1" indent="-197485">
              <a:lnSpc>
                <a:spcPct val="100000"/>
              </a:lnSpc>
              <a:spcBef>
                <a:spcPts val="455"/>
              </a:spcBef>
              <a:buFont typeface="Arial"/>
              <a:buChar char="–"/>
              <a:tabLst>
                <a:tab pos="403225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problem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does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not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need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parallelization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5"/>
              </a:spcBef>
            </a:pPr>
            <a:r>
              <a:t>Frequently</a:t>
            </a:r>
            <a:r>
              <a:rPr spc="-215"/>
              <a:t> </a:t>
            </a:r>
            <a:r>
              <a:t>Asked</a:t>
            </a:r>
            <a:r>
              <a:rPr spc="-165"/>
              <a:t> </a:t>
            </a:r>
            <a:r>
              <a:rPr spc="-1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5896610" cy="22193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Is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double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dipping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allowed?</a:t>
            </a:r>
            <a:endParaRPr sz="24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Can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use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codes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GitHub?</a:t>
            </a:r>
            <a:endParaRPr sz="24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What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kind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topics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are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qualified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 </a:t>
            </a:r>
            <a:r>
              <a:rPr sz="2400" spc="-10">
                <a:latin typeface="Calibri"/>
                <a:cs typeface="Calibri"/>
              </a:rPr>
              <a:t>project?</a:t>
            </a:r>
            <a:endParaRPr sz="24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My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teammate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disappears</a:t>
            </a:r>
            <a:endParaRPr sz="24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Can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help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me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debug?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(6)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pc="-10"/>
              <a:t>Submission:</a:t>
            </a:r>
          </a:p>
          <a:p>
            <a:pPr marL="442595" lvl="1" indent="-236854">
              <a:lnSpc>
                <a:spcPts val="2865"/>
              </a:lnSpc>
              <a:spcBef>
                <a:spcPts val="575"/>
              </a:spcBef>
              <a:buFont typeface="Arial"/>
              <a:buChar char="–"/>
              <a:tabLst>
                <a:tab pos="442595" algn="l"/>
              </a:tabLst>
            </a:pPr>
            <a:r>
              <a:rPr sz="2400">
                <a:latin typeface="Calibri"/>
                <a:cs typeface="Calibri"/>
              </a:rPr>
              <a:t>Provide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all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necessary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items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graders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run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project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(program,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datasets,</a:t>
            </a:r>
            <a:endParaRPr sz="2400">
              <a:latin typeface="Calibri"/>
              <a:cs typeface="Calibri"/>
            </a:endParaRPr>
          </a:p>
          <a:p>
            <a:pPr marL="326390">
              <a:lnSpc>
                <a:spcPts val="2865"/>
              </a:lnSpc>
            </a:pPr>
            <a:r>
              <a:t>README</a:t>
            </a:r>
            <a:r>
              <a:rPr spc="-60"/>
              <a:t> </a:t>
            </a:r>
            <a:r>
              <a:t>files,</a:t>
            </a:r>
            <a:r>
              <a:rPr spc="-75"/>
              <a:t> </a:t>
            </a:r>
            <a:r>
              <a:rPr spc="-20"/>
              <a:t>etc.)</a:t>
            </a:r>
          </a:p>
          <a:p>
            <a:pPr marL="443230" lvl="1" indent="-237490">
              <a:lnSpc>
                <a:spcPts val="2870"/>
              </a:lnSpc>
              <a:spcBef>
                <a:spcPts val="650"/>
              </a:spcBef>
              <a:buFont typeface="Arial"/>
              <a:buChar char="–"/>
              <a:tabLst>
                <a:tab pos="443230" algn="l"/>
              </a:tabLst>
            </a:pPr>
            <a:r>
              <a:rPr sz="2400">
                <a:latin typeface="Calibri"/>
                <a:cs typeface="Calibri"/>
              </a:rPr>
              <a:t>Imagine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are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providing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homework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folder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students.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45">
                <a:latin typeface="Calibri"/>
                <a:cs typeface="Calibri"/>
              </a:rPr>
              <a:t>You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need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provide</a:t>
            </a:r>
            <a:endParaRPr sz="2400">
              <a:latin typeface="Calibri"/>
              <a:cs typeface="Calibri"/>
            </a:endParaRPr>
          </a:p>
          <a:p>
            <a:pPr marL="326390">
              <a:lnSpc>
                <a:spcPts val="2870"/>
              </a:lnSpc>
            </a:pPr>
            <a:r>
              <a:t>all</a:t>
            </a:r>
            <a:r>
              <a:rPr spc="-85"/>
              <a:t> </a:t>
            </a:r>
            <a:r>
              <a:t>necessary</a:t>
            </a:r>
            <a:r>
              <a:rPr spc="-40"/>
              <a:t> </a:t>
            </a:r>
            <a:r>
              <a:t>instructions</a:t>
            </a:r>
            <a:r>
              <a:rPr spc="-30"/>
              <a:t> </a:t>
            </a:r>
            <a:r>
              <a:t>so</a:t>
            </a:r>
            <a:r>
              <a:rPr spc="-60"/>
              <a:t> </a:t>
            </a:r>
            <a:r>
              <a:t>that</a:t>
            </a:r>
            <a:r>
              <a:rPr spc="-110"/>
              <a:t> </a:t>
            </a:r>
            <a:r>
              <a:t>others</a:t>
            </a:r>
            <a:r>
              <a:rPr spc="-30"/>
              <a:t> </a:t>
            </a:r>
            <a:r>
              <a:t>can</a:t>
            </a:r>
            <a:r>
              <a:rPr spc="-55"/>
              <a:t> </a:t>
            </a:r>
            <a:r>
              <a:t>run</a:t>
            </a:r>
            <a:r>
              <a:rPr spc="-50"/>
              <a:t> </a:t>
            </a:r>
            <a:r>
              <a:t>your</a:t>
            </a:r>
            <a:r>
              <a:rPr spc="-10"/>
              <a:t> code.</a:t>
            </a:r>
          </a:p>
          <a:p>
            <a:pPr marL="442595" lvl="1" indent="-236854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442595" algn="l"/>
              </a:tabLst>
            </a:pPr>
            <a:r>
              <a:rPr sz="2400">
                <a:latin typeface="Calibri"/>
                <a:cs typeface="Calibri"/>
              </a:rPr>
              <a:t>Project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able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run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entirely</a:t>
            </a:r>
            <a:endParaRPr sz="2400">
              <a:latin typeface="Calibri"/>
              <a:cs typeface="Calibri"/>
            </a:endParaRPr>
          </a:p>
          <a:p>
            <a:pPr marL="495300" marR="17780" lvl="2" indent="-104775">
              <a:lnSpc>
                <a:spcPts val="2850"/>
              </a:lnSpc>
              <a:spcBef>
                <a:spcPts val="695"/>
              </a:spcBef>
              <a:buSzPct val="95833"/>
              <a:buFont typeface="Arial"/>
              <a:buChar char="•"/>
              <a:tabLst>
                <a:tab pos="495300" algn="l"/>
                <a:tab pos="504825" algn="l"/>
              </a:tabLst>
            </a:pPr>
            <a:r>
              <a:rPr sz="2400">
                <a:latin typeface="Calibri"/>
                <a:cs typeface="Calibri"/>
              </a:rPr>
              <a:t>	E.g.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handwriting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recognition,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provide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set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images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which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contain handwritten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characters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input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dataset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as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part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submission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3055">
              <a:lnSpc>
                <a:spcPct val="100000"/>
              </a:lnSpc>
              <a:spcBef>
                <a:spcPts val="105"/>
              </a:spcBef>
            </a:pPr>
            <a:r>
              <a:rPr spc="-10"/>
              <a:t>Programming</a:t>
            </a:r>
            <a:r>
              <a:rPr spc="-110"/>
              <a:t> </a:t>
            </a:r>
            <a:r>
              <a:rPr spc="-10"/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5004435" cy="26581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Pthreads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OpenMP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25">
                <a:latin typeface="Calibri"/>
                <a:cs typeface="Calibri"/>
              </a:rPr>
              <a:t>MPI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25">
                <a:latin typeface="Calibri"/>
                <a:cs typeface="Calibri"/>
              </a:rPr>
              <a:t>GPU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MapReduce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Hybrid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two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or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more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platforms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above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06875" y="454913"/>
            <a:ext cx="3789679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The</a:t>
            </a:r>
            <a:r>
              <a:rPr spc="-75"/>
              <a:t> </a:t>
            </a:r>
            <a:r>
              <a:t>clock</a:t>
            </a:r>
            <a:r>
              <a:rPr spc="-5"/>
              <a:t> </a:t>
            </a:r>
            <a:r>
              <a:t>is</a:t>
            </a:r>
            <a:r>
              <a:rPr spc="15"/>
              <a:t> </a:t>
            </a:r>
            <a:r>
              <a:rPr spc="-10"/>
              <a:t>ticking…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157394"/>
            <a:ext cx="6216015" cy="211582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155575" algn="l"/>
              </a:tabLst>
            </a:pPr>
            <a:r>
              <a:rPr sz="2400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400" spc="-10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1E1C11"/>
                </a:solidFill>
                <a:latin typeface="Calibri"/>
                <a:cs typeface="Calibri"/>
              </a:rPr>
              <a:t>timeline</a:t>
            </a:r>
            <a:endParaRPr sz="2400">
              <a:latin typeface="Calibri"/>
              <a:cs typeface="Calibri"/>
            </a:endParaRPr>
          </a:p>
          <a:p>
            <a:pPr marL="428625" lvl="1" indent="-22288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428625" algn="l"/>
              </a:tabLst>
            </a:pP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Week</a:t>
            </a:r>
            <a:r>
              <a:rPr sz="2250" spc="-9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7:</a:t>
            </a:r>
            <a:r>
              <a:rPr sz="2250" spc="-4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Identify</a:t>
            </a:r>
            <a:r>
              <a:rPr sz="2250" spc="-8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team</a:t>
            </a:r>
            <a:r>
              <a:rPr sz="2250" spc="-4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members</a:t>
            </a:r>
            <a:r>
              <a:rPr sz="2250" spc="-3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and</a:t>
            </a:r>
            <a:r>
              <a:rPr sz="2250" spc="-9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250" spc="-4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spc="-10">
                <a:solidFill>
                  <a:srgbClr val="1E1C11"/>
                </a:solidFill>
                <a:latin typeface="Calibri"/>
                <a:cs typeface="Calibri"/>
              </a:rPr>
              <a:t>topic</a:t>
            </a:r>
            <a:endParaRPr sz="2250">
              <a:latin typeface="Calibri"/>
              <a:cs typeface="Calibri"/>
            </a:endParaRPr>
          </a:p>
          <a:p>
            <a:pPr marL="428625" lvl="1" indent="-222885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428625" algn="l"/>
              </a:tabLst>
            </a:pP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Week</a:t>
            </a:r>
            <a:r>
              <a:rPr sz="2250" b="1" spc="-3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8:</a:t>
            </a:r>
            <a:r>
              <a:rPr sz="2250" b="1" spc="-8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250" b="1" spc="-8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proposal</a:t>
            </a:r>
            <a:r>
              <a:rPr sz="2250" b="1" spc="-9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due</a:t>
            </a:r>
            <a:r>
              <a:rPr sz="2250" b="1" spc="-7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 spc="-10">
                <a:solidFill>
                  <a:srgbClr val="1E1C11"/>
                </a:solidFill>
                <a:latin typeface="Calibri"/>
                <a:cs typeface="Calibri"/>
              </a:rPr>
              <a:t>(Friday,</a:t>
            </a:r>
            <a:r>
              <a:rPr sz="2250" b="1" spc="-5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 spc="-10">
                <a:solidFill>
                  <a:srgbClr val="1E1C11"/>
                </a:solidFill>
                <a:latin typeface="Calibri"/>
                <a:cs typeface="Calibri"/>
              </a:rPr>
              <a:t>10/18)</a:t>
            </a:r>
            <a:endParaRPr sz="2250">
              <a:latin typeface="Calibri"/>
              <a:cs typeface="Calibri"/>
            </a:endParaRPr>
          </a:p>
          <a:p>
            <a:pPr marL="428625" lvl="1" indent="-222885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428625" algn="l"/>
              </a:tabLst>
            </a:pPr>
            <a:r>
              <a:rPr sz="2250" spc="-10">
                <a:solidFill>
                  <a:srgbClr val="1E1C11"/>
                </a:solidFill>
                <a:latin typeface="Calibri"/>
                <a:cs typeface="Calibri"/>
              </a:rPr>
              <a:t>Weeks</a:t>
            </a:r>
            <a:r>
              <a:rPr sz="2250" spc="-11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13-15:</a:t>
            </a:r>
            <a:r>
              <a:rPr sz="2250" spc="-6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Student</a:t>
            </a:r>
            <a:r>
              <a:rPr sz="2250" spc="-6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250" spc="-7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spc="-10">
                <a:solidFill>
                  <a:srgbClr val="1E1C11"/>
                </a:solidFill>
                <a:latin typeface="Calibri"/>
                <a:cs typeface="Calibri"/>
              </a:rPr>
              <a:t>Presentations</a:t>
            </a:r>
            <a:endParaRPr sz="2250">
              <a:latin typeface="Calibri"/>
              <a:cs typeface="Calibri"/>
            </a:endParaRPr>
          </a:p>
          <a:p>
            <a:pPr marL="428625" lvl="1" indent="-222885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428625" algn="l"/>
              </a:tabLst>
            </a:pP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Week</a:t>
            </a:r>
            <a:r>
              <a:rPr sz="2250" spc="-9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15:</a:t>
            </a:r>
            <a:r>
              <a:rPr sz="2250" spc="-5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250" spc="-5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final</a:t>
            </a:r>
            <a:r>
              <a:rPr sz="2250" spc="-5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report</a:t>
            </a:r>
            <a:r>
              <a:rPr sz="2250" spc="-5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spc="-25">
                <a:solidFill>
                  <a:srgbClr val="1E1C11"/>
                </a:solidFill>
                <a:latin typeface="Calibri"/>
                <a:cs typeface="Calibri"/>
              </a:rPr>
              <a:t>due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1189">
              <a:lnSpc>
                <a:spcPct val="100000"/>
              </a:lnSpc>
              <a:spcBef>
                <a:spcPts val="105"/>
              </a:spcBef>
            </a:pPr>
            <a:r>
              <a:t>Find</a:t>
            </a:r>
            <a:r>
              <a:rPr spc="-50"/>
              <a:t> </a:t>
            </a:r>
            <a:r>
              <a:t>your</a:t>
            </a:r>
            <a:r>
              <a:rPr spc="-80"/>
              <a:t> </a:t>
            </a:r>
            <a:r>
              <a:rPr spc="-10"/>
              <a:t>teammate</a:t>
            </a:r>
          </a:p>
        </p:txBody>
      </p:sp>
      <p:pic>
        <p:nvPicPr>
          <p:cNvPr id="3" name="object 3" descr="Graphical user interface, text, application, email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3221" y="1391162"/>
            <a:ext cx="8716587" cy="46090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34425" y="4467225"/>
            <a:ext cx="3366135" cy="2298700"/>
            <a:chOff x="8734425" y="4467225"/>
            <a:chExt cx="3366135" cy="2298700"/>
          </a:xfrm>
        </p:grpSpPr>
        <p:pic>
          <p:nvPicPr>
            <p:cNvPr id="3" name="object 3" descr="A close-up of a computer chip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8900" y="5010150"/>
              <a:ext cx="1447800" cy="1362075"/>
            </a:xfrm>
            <a:prstGeom prst="rect">
              <a:avLst/>
            </a:prstGeom>
          </p:spPr>
        </p:pic>
        <p:pic>
          <p:nvPicPr>
            <p:cNvPr id="4" name="object 4" descr="2306c5b904ed498694cd30a3f97e50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4425" y="4467225"/>
              <a:ext cx="1781175" cy="20383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>
                <a:latin typeface="Calibri"/>
                <a:cs typeface="Calibri"/>
              </a:rPr>
              <a:t>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569" y="1384053"/>
            <a:ext cx="7364730" cy="46196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AMD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Ryzen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AI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Neural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Processing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Unit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AMD</a:t>
            </a:r>
            <a:r>
              <a:rPr sz="2400" u="sng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Ryzen</a:t>
            </a:r>
            <a:r>
              <a:rPr sz="2400" u="sng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24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AI</a:t>
            </a:r>
            <a:r>
              <a:rPr sz="2400" u="sng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24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NPU</a:t>
            </a:r>
            <a:endParaRPr sz="24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2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Offload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computationally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intensive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workloads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from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CPU/GPU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45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Runs</a:t>
            </a:r>
            <a:r>
              <a:rPr sz="2000" spc="-8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workloads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more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power</a:t>
            </a:r>
            <a:r>
              <a:rPr sz="2000" spc="-10">
                <a:latin typeface="Calibri"/>
                <a:cs typeface="Calibri"/>
              </a:rPr>
              <a:t> efficiently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30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Designed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exploit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both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level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task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level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parallelism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45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Consists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array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compute,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memory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interface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tiles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450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More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architecture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dataflow</a:t>
            </a:r>
            <a:endParaRPr sz="2000">
              <a:latin typeface="Calibri"/>
              <a:cs typeface="Calibri"/>
            </a:endParaRPr>
          </a:p>
          <a:p>
            <a:pPr marL="494665" lvl="1" indent="-95885">
              <a:lnSpc>
                <a:spcPct val="100000"/>
              </a:lnSpc>
              <a:spcBef>
                <a:spcPts val="505"/>
              </a:spcBef>
              <a:buClr>
                <a:srgbClr val="000000"/>
              </a:buClr>
              <a:buFont typeface="Arial"/>
              <a:buChar char="•"/>
              <a:tabLst>
                <a:tab pos="494665" algn="l"/>
              </a:tabLst>
            </a:pPr>
            <a:r>
              <a:rPr sz="18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https://riallto.ai</a:t>
            </a:r>
            <a:r>
              <a:rPr sz="1800" u="sng" spc="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-</a:t>
            </a:r>
            <a:r>
              <a:rPr sz="18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column</a:t>
            </a:r>
            <a:r>
              <a:rPr sz="1800" u="sng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architecture</a:t>
            </a:r>
            <a:endParaRPr sz="1800">
              <a:latin typeface="Calibri"/>
              <a:cs typeface="Calibri"/>
            </a:endParaRPr>
          </a:p>
          <a:p>
            <a:pPr marL="494665" lvl="1" indent="-95885">
              <a:lnSpc>
                <a:spcPct val="100000"/>
              </a:lnSpc>
              <a:spcBef>
                <a:spcPts val="395"/>
              </a:spcBef>
              <a:buClr>
                <a:srgbClr val="000000"/>
              </a:buClr>
              <a:buFont typeface="Arial"/>
              <a:buChar char="•"/>
              <a:tabLst>
                <a:tab pos="494665" algn="l"/>
              </a:tabLst>
            </a:pPr>
            <a:r>
              <a:rPr sz="18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https://riallto.ai</a:t>
            </a:r>
            <a:r>
              <a:rPr sz="1800" u="sng" spc="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-</a:t>
            </a:r>
            <a:r>
              <a:rPr sz="18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optimizing</a:t>
            </a:r>
            <a:r>
              <a:rPr sz="18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data</a:t>
            </a:r>
            <a:r>
              <a:rPr sz="1800" u="sng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flow</a:t>
            </a:r>
            <a:endParaRPr sz="18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174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Riallto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http://www.riallto.ai</a:t>
            </a:r>
            <a:endParaRPr sz="24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2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An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exploration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software</a:t>
            </a:r>
            <a:r>
              <a:rPr sz="2000" spc="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framework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AMD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Ryzen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NPU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30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Consists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set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open-source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materials</a:t>
            </a:r>
            <a:endParaRPr sz="2000">
              <a:latin typeface="Calibri"/>
              <a:cs typeface="Calibri"/>
            </a:endParaRPr>
          </a:p>
          <a:p>
            <a:pPr marL="494665" lvl="1" indent="-9588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494665" algn="l"/>
              </a:tabLst>
            </a:pPr>
            <a:r>
              <a:rPr sz="1800">
                <a:latin typeface="Calibri"/>
                <a:cs typeface="Calibri"/>
              </a:rPr>
              <a:t>videos,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Jupyter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notebooks,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interactive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demonstrations,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tutorials,</a:t>
            </a:r>
            <a:r>
              <a:rPr sz="1800" spc="-8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5765" y="6503352"/>
            <a:ext cx="34905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latin typeface="Calibri"/>
                <a:cs typeface="Calibri"/>
              </a:rPr>
              <a:t>This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content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protected</a:t>
            </a:r>
            <a:r>
              <a:rPr sz="900" spc="-3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may</a:t>
            </a:r>
            <a:r>
              <a:rPr sz="900" spc="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not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be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shared,</a:t>
            </a:r>
            <a:r>
              <a:rPr sz="900" spc="-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uploaded,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distributed.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5805">
              <a:lnSpc>
                <a:spcPct val="100000"/>
              </a:lnSpc>
              <a:spcBef>
                <a:spcPts val="105"/>
              </a:spcBef>
            </a:pPr>
            <a:r>
              <a:t>Neural</a:t>
            </a:r>
            <a:r>
              <a:rPr spc="-55"/>
              <a:t> </a:t>
            </a:r>
            <a:r>
              <a:rPr spc="-10"/>
              <a:t>Processing</a:t>
            </a:r>
            <a:r>
              <a:rPr spc="-95"/>
              <a:t> </a:t>
            </a:r>
            <a:r>
              <a:t>Unit</a:t>
            </a:r>
            <a:r>
              <a:rPr spc="-65"/>
              <a:t> </a:t>
            </a:r>
            <a:r>
              <a:rPr spc="-10"/>
              <a:t>(NPU)</a:t>
            </a:r>
          </a:p>
        </p:txBody>
      </p:sp>
      <p:pic>
        <p:nvPicPr>
          <p:cNvPr id="9" name="object 9" descr="A diagram of a computer memory  Description automatically generated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95274" y="1600200"/>
            <a:ext cx="2515725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>
                <a:latin typeface="Calibri"/>
                <a:cs typeface="Calibri"/>
              </a:rPr>
              <a:t>22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569" y="1420749"/>
            <a:ext cx="5924550" cy="4312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210" indent="-143510">
              <a:lnSpc>
                <a:spcPts val="2755"/>
              </a:lnSpc>
              <a:spcBef>
                <a:spcPts val="10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20">
                <a:latin typeface="Calibri"/>
                <a:cs typeface="Calibri"/>
              </a:rPr>
              <a:t>Cluster-</a:t>
            </a:r>
            <a:r>
              <a:rPr sz="2400" spc="-10">
                <a:latin typeface="Calibri"/>
                <a:cs typeface="Calibri"/>
              </a:rPr>
              <a:t>on-</a:t>
            </a:r>
            <a:r>
              <a:rPr sz="2400">
                <a:latin typeface="Calibri"/>
                <a:cs typeface="Calibri"/>
              </a:rPr>
              <a:t>Chip to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accelerate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deep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755"/>
              </a:lnSpc>
            </a:pPr>
            <a:r>
              <a:rPr sz="2400" spc="-1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  <a:p>
            <a:pPr marL="155575" marR="554355" indent="-143510">
              <a:lnSpc>
                <a:spcPct val="90000"/>
              </a:lnSpc>
              <a:spcBef>
                <a:spcPts val="560"/>
              </a:spcBef>
              <a:buFont typeface="Arial"/>
              <a:buChar char="•"/>
              <a:tabLst>
                <a:tab pos="156845" algn="l"/>
              </a:tabLst>
            </a:pPr>
            <a:r>
              <a:rPr sz="2400" spc="-20">
                <a:latin typeface="Calibri"/>
                <a:cs typeface="Calibri"/>
              </a:rPr>
              <a:t>Wafer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Scale</a:t>
            </a:r>
            <a:r>
              <a:rPr sz="2400" spc="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Engine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2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(WSE-</a:t>
            </a:r>
            <a:r>
              <a:rPr sz="2400">
                <a:latin typeface="Calibri"/>
                <a:cs typeface="Calibri"/>
              </a:rPr>
              <a:t>2)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processor;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50">
                <a:latin typeface="Calibri"/>
                <a:cs typeface="Calibri"/>
              </a:rPr>
              <a:t>a 	</a:t>
            </a:r>
            <a:r>
              <a:rPr sz="2400">
                <a:latin typeface="Calibri"/>
                <a:cs typeface="Calibri"/>
              </a:rPr>
              <a:t>large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“square”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cut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from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single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wafer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of 	</a:t>
            </a:r>
            <a:r>
              <a:rPr sz="2400" spc="-10">
                <a:latin typeface="Calibri"/>
                <a:cs typeface="Calibri"/>
              </a:rPr>
              <a:t>silicon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755"/>
              </a:lnSpc>
              <a:spcBef>
                <a:spcPts val="2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Wafer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programmed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each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neural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755"/>
              </a:lnSpc>
            </a:pPr>
            <a:r>
              <a:rPr sz="2400" spc="-10">
                <a:latin typeface="Calibri"/>
                <a:cs typeface="Calibri"/>
              </a:rPr>
              <a:t>before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training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job</a:t>
            </a:r>
            <a:endParaRPr sz="2400">
              <a:latin typeface="Calibri"/>
              <a:cs typeface="Calibri"/>
            </a:endParaRPr>
          </a:p>
          <a:p>
            <a:pPr marL="155575" marR="541655" indent="-143510">
              <a:lnSpc>
                <a:spcPct val="90000"/>
              </a:lnSpc>
              <a:spcBef>
                <a:spcPts val="560"/>
              </a:spcBef>
              <a:buFont typeface="Arial"/>
              <a:buChar char="•"/>
              <a:tabLst>
                <a:tab pos="156845" algn="l"/>
              </a:tabLst>
            </a:pPr>
            <a:r>
              <a:rPr sz="2400" spc="-35">
                <a:latin typeface="Calibri"/>
                <a:cs typeface="Calibri"/>
              </a:rPr>
              <a:t>PyTorch/TensorFlow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mbria Math"/>
                <a:cs typeface="Cambria Math"/>
              </a:rPr>
              <a:t>→</a:t>
            </a:r>
            <a:r>
              <a:rPr sz="2400" spc="-45">
                <a:latin typeface="Cambria Math"/>
                <a:cs typeface="Cambria Math"/>
              </a:rPr>
              <a:t> </a:t>
            </a:r>
            <a:r>
              <a:rPr sz="2400">
                <a:latin typeface="Calibri"/>
                <a:cs typeface="Calibri"/>
              </a:rPr>
              <a:t>Kernel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Graph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50">
                <a:latin typeface="Cambria Math"/>
                <a:cs typeface="Cambria Math"/>
              </a:rPr>
              <a:t>→ 	</a:t>
            </a:r>
            <a:r>
              <a:rPr sz="2400" spc="-10">
                <a:latin typeface="Calibri"/>
                <a:cs typeface="Calibri"/>
              </a:rPr>
              <a:t>Execution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Plan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mbria Math"/>
                <a:cs typeface="Cambria Math"/>
              </a:rPr>
              <a:t>→</a:t>
            </a:r>
            <a:r>
              <a:rPr sz="2400" spc="-35">
                <a:latin typeface="Cambria Math"/>
                <a:cs typeface="Cambria Math"/>
              </a:rPr>
              <a:t> </a:t>
            </a:r>
            <a:r>
              <a:rPr sz="2400" spc="-10">
                <a:latin typeface="Calibri"/>
                <a:cs typeface="Calibri"/>
              </a:rPr>
              <a:t>Executable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(via </a:t>
            </a:r>
            <a:r>
              <a:rPr sz="2400" spc="-10">
                <a:latin typeface="Calibri"/>
                <a:cs typeface="Calibri"/>
              </a:rPr>
              <a:t>Cerebras 	</a:t>
            </a:r>
            <a:r>
              <a:rPr sz="2400">
                <a:latin typeface="Calibri"/>
                <a:cs typeface="Calibri"/>
              </a:rPr>
              <a:t>Graph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Compiler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tool)</a:t>
            </a:r>
            <a:endParaRPr sz="2400">
              <a:latin typeface="Calibri"/>
              <a:cs typeface="Calibri"/>
            </a:endParaRPr>
          </a:p>
          <a:p>
            <a:pPr marL="156845" indent="-144145">
              <a:lnSpc>
                <a:spcPts val="2755"/>
              </a:lnSpc>
              <a:spcBef>
                <a:spcPts val="275"/>
              </a:spcBef>
              <a:buClr>
                <a:srgbClr val="000000"/>
              </a:buClr>
              <a:buFont typeface="Arial"/>
              <a:buChar char="•"/>
              <a:tabLst>
                <a:tab pos="156845" algn="l"/>
              </a:tabLst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https://docs.cerebras.net/en/latest/wsc/cereb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755"/>
              </a:lnSpc>
            </a:pPr>
            <a:r>
              <a:rPr sz="24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ras-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basics/how-</a:t>
            </a:r>
            <a:r>
              <a:rPr sz="24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cerebras-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works.html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5765" y="6503352"/>
            <a:ext cx="34905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latin typeface="Calibri"/>
                <a:cs typeface="Calibri"/>
              </a:rPr>
              <a:t>This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content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protected</a:t>
            </a:r>
            <a:r>
              <a:rPr sz="900" spc="-3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may</a:t>
            </a:r>
            <a:r>
              <a:rPr sz="900" spc="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not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be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shared,</a:t>
            </a:r>
            <a:r>
              <a:rPr sz="900" spc="-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uploaded,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distributed.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5"/>
              </a:spcBef>
            </a:pPr>
            <a:r>
              <a:t>Cerebras</a:t>
            </a:r>
            <a:r>
              <a:rPr spc="-60"/>
              <a:t> </a:t>
            </a:r>
            <a:r>
              <a:t>CS2:</a:t>
            </a:r>
            <a:r>
              <a:rPr spc="-65"/>
              <a:t> </a:t>
            </a:r>
            <a:r>
              <a:rPr spc="-30"/>
              <a:t>Cluster-</a:t>
            </a:r>
            <a:r>
              <a:rPr spc="-10"/>
              <a:t>on-</a:t>
            </a:r>
            <a:r>
              <a:rPr spc="-20"/>
              <a:t>Chip</a:t>
            </a:r>
          </a:p>
        </p:txBody>
      </p:sp>
      <p:pic>
        <p:nvPicPr>
          <p:cNvPr id="6" name="object 6" descr="A table with numbers and letters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8925" y="4162425"/>
            <a:ext cx="5391150" cy="1793347"/>
          </a:xfrm>
          <a:prstGeom prst="rect">
            <a:avLst/>
          </a:prstGeom>
        </p:spPr>
      </p:pic>
      <p:pic>
        <p:nvPicPr>
          <p:cNvPr id="7" name="object 7" descr="A close-up of a rectangular object  Description automatically generate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2850" y="1590675"/>
            <a:ext cx="3562350" cy="221343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PoPP Tutorial: oneAPI DPC++ Compiler, Runtime, Tools for Efficient  Heterogeneous Computing - SYCL.tech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3425" y="4152900"/>
            <a:ext cx="3619500" cy="23812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>
                <a:latin typeface="Calibri"/>
                <a:cs typeface="Calibri"/>
              </a:rPr>
              <a:t>23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569" y="1391856"/>
            <a:ext cx="7552055" cy="4732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ts val="2755"/>
              </a:lnSpc>
              <a:spcBef>
                <a:spcPts val="100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Platform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integrating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CPU, GPU</a:t>
            </a:r>
            <a:r>
              <a:rPr sz="2400" b="1" spc="-3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(Intel</a:t>
            </a:r>
            <a:r>
              <a:rPr sz="2400" b="1" spc="-3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Arc</a:t>
            </a:r>
            <a:r>
              <a:rPr sz="2400" b="1" spc="-7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A380E),</a:t>
            </a:r>
            <a:r>
              <a:rPr sz="2400" b="1" spc="-8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and</a:t>
            </a:r>
            <a:r>
              <a:rPr sz="2400" b="1" spc="-60">
                <a:latin typeface="Calibri"/>
                <a:cs typeface="Calibri"/>
              </a:rPr>
              <a:t> </a:t>
            </a:r>
            <a:r>
              <a:rPr sz="2400" b="1" spc="-25">
                <a:latin typeface="Calibri"/>
                <a:cs typeface="Calibri"/>
              </a:rPr>
              <a:t>NPU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640"/>
              </a:lnSpc>
            </a:pPr>
            <a:r>
              <a:rPr sz="2400" b="1">
                <a:latin typeface="Calibri"/>
                <a:cs typeface="Calibri"/>
              </a:rPr>
              <a:t>(Intel</a:t>
            </a:r>
            <a:r>
              <a:rPr sz="2400" b="1" spc="-120">
                <a:latin typeface="Calibri"/>
                <a:cs typeface="Calibri"/>
              </a:rPr>
              <a:t> </a:t>
            </a:r>
            <a:r>
              <a:rPr sz="2400" b="1" spc="-20">
                <a:latin typeface="Calibri"/>
                <a:cs typeface="Calibri"/>
              </a:rPr>
              <a:t>NPU)</a:t>
            </a:r>
            <a:endParaRPr sz="2400">
              <a:latin typeface="Calibri"/>
              <a:cs typeface="Calibri"/>
            </a:endParaRPr>
          </a:p>
          <a:p>
            <a:pPr marL="205104">
              <a:lnSpc>
                <a:spcPts val="2175"/>
              </a:lnSpc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Aims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at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performing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tasks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on-chip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without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server-</a:t>
            </a:r>
            <a:r>
              <a:rPr sz="2000">
                <a:latin typeface="Calibri"/>
                <a:cs typeface="Calibri"/>
              </a:rPr>
              <a:t>side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compute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ts val="2140"/>
              </a:lnSpc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NPU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has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efficient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bandwidth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utilization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workloads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326390">
              <a:lnSpc>
                <a:spcPts val="2250"/>
              </a:lnSpc>
            </a:pPr>
            <a:r>
              <a:rPr sz="2000" spc="-10">
                <a:latin typeface="Calibri"/>
                <a:cs typeface="Calibri"/>
              </a:rPr>
              <a:t>comparison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GPUs</a:t>
            </a:r>
            <a:endParaRPr sz="2000">
              <a:latin typeface="Calibri"/>
              <a:cs typeface="Calibri"/>
            </a:endParaRPr>
          </a:p>
          <a:p>
            <a:pPr marL="156210" indent="-143510">
              <a:lnSpc>
                <a:spcPts val="2805"/>
              </a:lnSpc>
              <a:spcBef>
                <a:spcPts val="185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Using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your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project?</a:t>
            </a:r>
            <a:endParaRPr sz="2400">
              <a:latin typeface="Calibri"/>
              <a:cs typeface="Calibri"/>
            </a:endParaRPr>
          </a:p>
          <a:p>
            <a:pPr marL="326390" marR="367030" indent="-121285">
              <a:lnSpc>
                <a:spcPts val="2100"/>
              </a:lnSpc>
              <a:spcBef>
                <a:spcPts val="24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 b="1">
                <a:latin typeface="Calibri"/>
                <a:cs typeface="Calibri"/>
              </a:rPr>
              <a:t>Edge</a:t>
            </a:r>
            <a:r>
              <a:rPr sz="2000" b="1" spc="-15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AI</a:t>
            </a:r>
            <a:r>
              <a:rPr sz="2000" b="1" spc="-50">
                <a:latin typeface="Calibri"/>
                <a:cs typeface="Calibri"/>
              </a:rPr>
              <a:t> </a:t>
            </a:r>
            <a:r>
              <a:rPr sz="2000" b="1" spc="-10">
                <a:latin typeface="Calibri"/>
                <a:cs typeface="Calibri"/>
              </a:rPr>
              <a:t>Performance</a:t>
            </a:r>
            <a:r>
              <a:rPr sz="2000" spc="-10">
                <a:latin typeface="Calibri"/>
                <a:cs typeface="Calibri"/>
              </a:rPr>
              <a:t>: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Develop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models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that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run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directly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local devices</a:t>
            </a:r>
            <a:endParaRPr sz="2000">
              <a:latin typeface="Calibri"/>
              <a:cs typeface="Calibri"/>
            </a:endParaRPr>
          </a:p>
          <a:p>
            <a:pPr marL="326390" marR="236854" indent="-121285">
              <a:lnSpc>
                <a:spcPts val="2180"/>
              </a:lnSpc>
              <a:spcBef>
                <a:spcPts val="1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 b="1" spc="-10">
                <a:latin typeface="Calibri"/>
                <a:cs typeface="Calibri"/>
              </a:rPr>
              <a:t>Parallel</a:t>
            </a:r>
            <a:r>
              <a:rPr sz="2000" b="1" spc="-15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Computing</a:t>
            </a:r>
            <a:r>
              <a:rPr sz="2000" b="1" spc="-90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Flexibility</a:t>
            </a:r>
            <a:r>
              <a:rPr sz="2000">
                <a:latin typeface="Calibri"/>
                <a:cs typeface="Calibri"/>
              </a:rPr>
              <a:t>: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Leverage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task,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data,</a:t>
            </a:r>
            <a:r>
              <a:rPr sz="2000" spc="-8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tensor-level parallelism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efficiency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ts val="2030"/>
              </a:lnSpc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 b="1">
                <a:latin typeface="Calibri"/>
                <a:cs typeface="Calibri"/>
              </a:rPr>
              <a:t>OneAPI</a:t>
            </a:r>
            <a:r>
              <a:rPr sz="2000" b="1" spc="-45">
                <a:latin typeface="Calibri"/>
                <a:cs typeface="Calibri"/>
              </a:rPr>
              <a:t> </a:t>
            </a:r>
            <a:r>
              <a:rPr sz="2000" b="1" spc="-20">
                <a:latin typeface="Calibri"/>
                <a:cs typeface="Calibri"/>
              </a:rPr>
              <a:t>Toolkit</a:t>
            </a:r>
            <a:r>
              <a:rPr sz="2000" spc="-20">
                <a:latin typeface="Calibri"/>
                <a:cs typeface="Calibri"/>
              </a:rPr>
              <a:t>: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Simplify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development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Intel's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Data</a:t>
            </a:r>
            <a:r>
              <a:rPr sz="2000" b="1" spc="-55">
                <a:latin typeface="Calibri"/>
                <a:cs typeface="Calibri"/>
              </a:rPr>
              <a:t> </a:t>
            </a:r>
            <a:r>
              <a:rPr sz="2000" b="1" spc="-10">
                <a:latin typeface="Calibri"/>
                <a:cs typeface="Calibri"/>
              </a:rPr>
              <a:t>Parallel</a:t>
            </a:r>
            <a:r>
              <a:rPr sz="2000" b="1" spc="-5">
                <a:latin typeface="Calibri"/>
                <a:cs typeface="Calibri"/>
              </a:rPr>
              <a:t> </a:t>
            </a:r>
            <a:r>
              <a:rPr sz="2000" b="1" spc="-25">
                <a:latin typeface="Calibri"/>
                <a:cs typeface="Calibri"/>
              </a:rPr>
              <a:t>C++</a:t>
            </a:r>
            <a:endParaRPr sz="2000">
              <a:latin typeface="Calibri"/>
              <a:cs typeface="Calibri"/>
            </a:endParaRPr>
          </a:p>
          <a:p>
            <a:pPr marL="326390">
              <a:lnSpc>
                <a:spcPts val="2290"/>
              </a:lnSpc>
            </a:pPr>
            <a:r>
              <a:rPr sz="2000" b="1">
                <a:latin typeface="Calibri"/>
                <a:cs typeface="Calibri"/>
              </a:rPr>
              <a:t>(DPC++)</a:t>
            </a:r>
            <a:r>
              <a:rPr sz="2000" b="1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extend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familiar </a:t>
            </a:r>
            <a:r>
              <a:rPr sz="2000" spc="-20">
                <a:latin typeface="Calibri"/>
                <a:cs typeface="Calibri"/>
              </a:rPr>
              <a:t>frameworks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like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b="1" spc="-10">
                <a:latin typeface="Calibri"/>
                <a:cs typeface="Calibri"/>
              </a:rPr>
              <a:t>PyTorch</a:t>
            </a:r>
            <a:endParaRPr sz="2000">
              <a:latin typeface="Calibri"/>
              <a:cs typeface="Calibri"/>
            </a:endParaRPr>
          </a:p>
          <a:p>
            <a:pPr marL="156845" indent="-144145">
              <a:lnSpc>
                <a:spcPts val="2715"/>
              </a:lnSpc>
              <a:spcBef>
                <a:spcPts val="1855"/>
              </a:spcBef>
              <a:buClr>
                <a:srgbClr val="000000"/>
              </a:buClr>
              <a:buFont typeface="Arial"/>
              <a:buChar char="•"/>
              <a:tabLst>
                <a:tab pos="156845" algn="l"/>
              </a:tabLst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https://www.intel.com/content/www/us/en/developer/top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715"/>
              </a:lnSpc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ic-</a:t>
            </a:r>
            <a:r>
              <a:rPr sz="24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technology/ai-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pc/overview.html#gs.dtd1d9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5765" y="6503352"/>
            <a:ext cx="34905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latin typeface="Calibri"/>
                <a:cs typeface="Calibri"/>
              </a:rPr>
              <a:t>This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content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protected</a:t>
            </a:r>
            <a:r>
              <a:rPr sz="900" spc="-3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may</a:t>
            </a:r>
            <a:r>
              <a:rPr sz="900" spc="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not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be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shared,</a:t>
            </a:r>
            <a:r>
              <a:rPr sz="900" spc="-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uploaded,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distributed.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80945">
              <a:lnSpc>
                <a:spcPct val="100000"/>
              </a:lnSpc>
              <a:spcBef>
                <a:spcPts val="105"/>
              </a:spcBef>
            </a:pPr>
            <a:r>
              <a:t>Intel</a:t>
            </a:r>
            <a:r>
              <a:rPr spc="-65"/>
              <a:t> </a:t>
            </a:r>
            <a:r>
              <a:t>AI</a:t>
            </a:r>
            <a:r>
              <a:rPr spc="-65"/>
              <a:t> </a:t>
            </a:r>
            <a:r>
              <a:rPr spc="-25"/>
              <a:t>PC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05825" y="1266825"/>
            <a:ext cx="3314700" cy="2562225"/>
            <a:chOff x="8505825" y="1266825"/>
            <a:chExt cx="3314700" cy="2562225"/>
          </a:xfrm>
        </p:grpSpPr>
        <p:pic>
          <p:nvPicPr>
            <p:cNvPr id="8" name="object 8" descr="Intel® Core™ Ultra Processors AI Multi-benefit, 47% OFF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5825" y="1266825"/>
              <a:ext cx="3314700" cy="2562225"/>
            </a:xfrm>
            <a:prstGeom prst="rect">
              <a:avLst/>
            </a:prstGeom>
          </p:spPr>
        </p:pic>
        <p:pic>
          <p:nvPicPr>
            <p:cNvPr id="9" name="object 9" descr="Intel® Core™ Ultra Processors AI Multi-benefit, 47% OFF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53750" y="1343025"/>
              <a:ext cx="790575" cy="962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47564" y="332740"/>
            <a:ext cx="190246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765155" cy="20764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Graph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Datasets: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http://snap.stanford.edu/data/index.html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865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Electricity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Consumption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Datasets: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http://www.pjm.com/markets-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and-operations/ops-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ts val="2865"/>
              </a:lnSpc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analysis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870"/>
              </a:lnSpc>
              <a:spcBef>
                <a:spcPts val="650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Learning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Datasets: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ts val="2870"/>
              </a:lnSpc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https://en.wikipedia.org/wiki/List_of_datasets_for_machine_learning_research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4601464"/>
            <a:ext cx="8773795" cy="764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Project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Ideas: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https://www.cs.cmu.edu/afs/cs/academic/class/15418-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ct val="100000"/>
              </a:lnSpc>
              <a:spcBef>
                <a:spcPts val="50"/>
              </a:spcBef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f24/www/projects.html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01819-9D6D-B36E-F7F9-C9081464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EF827-3236-44E9-E91A-8CC35AE32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78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E982-0911-5C0F-A263-51AA658F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 fontScale="90000"/>
          </a:bodyPr>
          <a:lstStyle/>
          <a:p>
            <a:r>
              <a:rPr lang="en-US" sz="4000">
                <a:ea typeface="+mj-lt"/>
                <a:cs typeface="+mj-lt"/>
              </a:rPr>
              <a:t>System Performance Evaluation 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B6BCB-826E-0E55-5035-24F9DB6AF9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Hardware Specifications:</a:t>
                </a:r>
                <a:endParaRPr lang="en-US"/>
              </a:p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Processor: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4 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𝐺𝐻𝑧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en-US">
                    <a:ea typeface="+mn-lt"/>
                    <a:cs typeface="+mn-lt"/>
                  </a:rPr>
                  <a:t>clock speed, 2 Multiply-Add (FMA) units.</a:t>
                </a:r>
                <a:endParaRPr lang="en-US"/>
              </a:p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(Note: 1 F</a:t>
                </a:r>
                <a:r>
                  <a:rPr lang="en-US" altLang="zh-CN">
                    <a:ea typeface="+mn-lt"/>
                    <a:cs typeface="+mn-lt"/>
                  </a:rPr>
                  <a:t>ull </a:t>
                </a:r>
                <a:r>
                  <a:rPr lang="en-US">
                    <a:ea typeface="+mn-lt"/>
                    <a:cs typeface="+mn-lt"/>
                  </a:rPr>
                  <a:t>M</a:t>
                </a:r>
                <a:r>
                  <a:rPr lang="en-US" altLang="zh-CN">
                    <a:ea typeface="+mn-lt"/>
                    <a:cs typeface="+mn-lt"/>
                  </a:rPr>
                  <a:t>ulti-</a:t>
                </a:r>
                <a:r>
                  <a:rPr lang="en-US">
                    <a:ea typeface="+mn-lt"/>
                    <a:cs typeface="+mn-lt"/>
                  </a:rPr>
                  <a:t>Add unit = 1 multiply + 1 add = 2 FLOPs/cycle)</a:t>
                </a:r>
                <a:endParaRPr lang="en-US"/>
              </a:p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Memory Bus: 64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𝐺𝐵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𝑠</m:t>
                    </m:r>
                  </m:oMath>
                </a14:m>
                <a:r>
                  <a:rPr lang="en-US">
                    <a:ea typeface="+mn-lt"/>
                    <a:cs typeface="+mn-lt"/>
                  </a:rPr>
                  <a:t> peak bandwidth, 10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</m:oMath>
                </a14:m>
                <a:r>
                  <a:rPr lang="en-US">
                    <a:ea typeface="+mn-lt"/>
                    <a:cs typeface="+mn-lt"/>
                  </a:rPr>
                  <a:t> latency.</a:t>
                </a:r>
                <a:endParaRPr lang="en-US"/>
              </a:p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Data Size: 1 Word = 8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𝐵𝑦𝑡𝑒𝑠</m:t>
                    </m:r>
                  </m:oMath>
                </a14:m>
                <a:r>
                  <a:rPr lang="en-US">
                    <a:ea typeface="+mn-lt"/>
                    <a:cs typeface="+mn-lt"/>
                  </a:rPr>
                  <a:t>.</a:t>
                </a:r>
                <a:endParaRPr lang="en-US"/>
              </a:p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The Workload:</a:t>
                </a:r>
                <a:endParaRPr lang="en-US"/>
              </a:p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Simplified Operation: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+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𝐶𝑜𝑛𝑠𝑡</m:t>
                    </m:r>
                  </m:oMath>
                </a14:m>
                <a:endParaRPr lang="en-US"/>
              </a:p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Assumption: W (weights) and intermediate results are in local registers.</a:t>
                </a:r>
                <a:endParaRPr lang="en-US"/>
              </a:p>
              <a:p>
                <a:pPr>
                  <a:lnSpc>
                    <a:spcPct val="80000"/>
                  </a:lnSpc>
                </a:pPr>
                <a:r>
                  <a:rPr lang="en-US">
                    <a:ea typeface="+mn-lt"/>
                    <a:cs typeface="+mn-lt"/>
                  </a:rPr>
                  <a:t>We only need to fetch X from DRAM.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B6BCB-826E-0E55-5035-24F9DB6AF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9" t="-3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896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92B9-73B6-9086-7CC2-CF83A552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Compute vs. Memory Capacity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E9D15D-979B-F0E6-B443-B7EB2475BE3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200" b="1">
                    <a:ea typeface="+mn-lt"/>
                    <a:cs typeface="+mn-lt"/>
                  </a:rPr>
                  <a:t>The Compute Ceiling (Peak Performance):</a:t>
                </a:r>
                <a:endParaRPr lang="en-US" sz="220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4 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𝐺𝐻𝑧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lt"/>
                        </a:rPr>
                        <m:t>×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2 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𝑝𝑖𝑝𝑒𝑙𝑖𝑛𝑒𝑠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lt"/>
                        </a:rPr>
                        <m:t>×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2 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𝐹𝐿𝑂𝑃𝑠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/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𝑐𝑦𝑐𝑙𝑒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= 16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𝐺𝐹𝐿𝑂𝑃𝑆</m:t>
                      </m:r>
                    </m:oMath>
                  </m:oMathPara>
                </a14:m>
                <a:endParaRPr lang="en-US" sz="2200"/>
              </a:p>
              <a:p>
                <a:pPr lvl="1"/>
                <a:r>
                  <a:rPr lang="en-US" sz="2200" i="1">
                    <a:ea typeface="+mn-lt"/>
                    <a:cs typeface="+mn-lt"/>
                  </a:rPr>
                  <a:t>This is our absolute physical limit.</a:t>
                </a:r>
                <a:endParaRPr lang="en-US" sz="2200"/>
              </a:p>
              <a:p>
                <a:r>
                  <a:rPr lang="en-US" sz="2200" b="1">
                    <a:ea typeface="+mn-lt"/>
                    <a:cs typeface="+mn-lt"/>
                  </a:rPr>
                  <a:t>The Memory Ceiling (Non-Streaming vs. Streaming):</a:t>
                </a:r>
                <a:endParaRPr lang="en-US" sz="2200"/>
              </a:p>
              <a:p>
                <a:pPr lvl="1"/>
                <a:r>
                  <a:rPr lang="en-US" sz="2200" b="1">
                    <a:ea typeface="+mn-lt"/>
                    <a:cs typeface="+mn-lt"/>
                  </a:rPr>
                  <a:t>Scenario A: Non-Streaming (Latency Bound)</a:t>
                </a:r>
                <a:endParaRPr lang="en-US" sz="2200"/>
              </a:p>
              <a:p>
                <a:pPr lvl="2"/>
                <a:r>
                  <a:rPr lang="en-US" sz="2200">
                    <a:ea typeface="+mn-lt"/>
                    <a:cs typeface="+mn-lt"/>
                  </a:rPr>
                  <a:t>Wait 10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</m:oMath>
                </a14:m>
                <a:r>
                  <a:rPr lang="en-US" sz="2200">
                    <a:ea typeface="+mn-lt"/>
                    <a:cs typeface="+mn-lt"/>
                  </a:rPr>
                  <a:t> for data </a:t>
                </a:r>
                <a:r>
                  <a:rPr lang="en-US" sz="2200">
                    <a:ea typeface="+mn-lt"/>
                    <a:cs typeface="+mn-lt"/>
                    <a:sym typeface="Wingdings" panose="05000000000000000000" pitchFamily="2" charset="2"/>
                  </a:rPr>
                  <a:t></a:t>
                </a:r>
                <a:r>
                  <a:rPr lang="en-US" sz="2200">
                    <a:ea typeface="+mn-lt"/>
                    <a:cs typeface="+mn-lt"/>
                  </a:rPr>
                  <a:t> execute 4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</m:oMath>
                </a14:m>
                <a:r>
                  <a:rPr lang="en-US" sz="2200">
                    <a:ea typeface="+mn-lt"/>
                    <a:cs typeface="+mn-lt"/>
                  </a:rPr>
                  <a:t>.</a:t>
                </a:r>
                <a:endParaRPr lang="en-US" sz="2200"/>
              </a:p>
              <a:p>
                <a:pPr lvl="2"/>
                <a:r>
                  <a:rPr lang="en-US" sz="2200">
                    <a:ea typeface="+mn-lt"/>
                    <a:cs typeface="+mn-lt"/>
                  </a:rPr>
                  <a:t>Performance: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4 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/ 10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400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𝑀𝐹𝐿𝑂𝑃𝑆</m:t>
                    </m:r>
                  </m:oMath>
                </a14:m>
                <a:r>
                  <a:rPr lang="en-US" sz="2200">
                    <a:ea typeface="+mn-lt"/>
                    <a:cs typeface="+mn-lt"/>
                  </a:rPr>
                  <a:t>. </a:t>
                </a:r>
                <a:r>
                  <a:rPr lang="en-US" sz="2200" i="1">
                    <a:ea typeface="+mn-lt"/>
                    <a:cs typeface="+mn-lt"/>
                  </a:rPr>
                  <a:t>(Severe bottleneck!)</a:t>
                </a:r>
                <a:endParaRPr lang="en-US" sz="2200"/>
              </a:p>
              <a:p>
                <a:pPr lvl="1"/>
                <a:r>
                  <a:rPr lang="en-US" sz="2200" b="1">
                    <a:ea typeface="+mn-lt"/>
                    <a:cs typeface="+mn-lt"/>
                  </a:rPr>
                  <a:t>Scenario B: Streaming (Bandwidth Bound)</a:t>
                </a:r>
                <a:endParaRPr lang="en-US" sz="2200"/>
              </a:p>
              <a:p>
                <a:pPr lvl="2"/>
                <a:r>
                  <a:rPr lang="en-US" sz="2200">
                    <a:ea typeface="+mn-lt"/>
                    <a:cs typeface="+mn-lt"/>
                  </a:rPr>
                  <a:t>Latency is hidden by pipelining. Limit is the 64 GB/s bus.</a:t>
                </a:r>
                <a:endParaRPr lang="en-US" sz="2200"/>
              </a:p>
              <a:p>
                <a:pPr lvl="2"/>
                <a:r>
                  <a:rPr lang="en-US" sz="2200">
                    <a:ea typeface="+mn-lt"/>
                    <a:cs typeface="+mn-lt"/>
                  </a:rPr>
                  <a:t>Fetch rate: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64 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𝐺𝐵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/ 4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𝐺𝐻𝑧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16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𝐵𝑦𝑡𝑒𝑠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2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𝑤𝑜𝑟𝑑𝑠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.</m:t>
                    </m:r>
                  </m:oMath>
                </a14:m>
                <a:endParaRPr lang="en-US" sz="2200">
                  <a:ea typeface="+mn-lt"/>
                  <a:cs typeface="+mn-lt"/>
                </a:endParaRP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E9D15D-979B-F0E6-B443-B7EB2475B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blipFill>
                <a:blip r:embed="rId2"/>
                <a:stretch>
                  <a:fillRect l="-745" t="-1259" b="-5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291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8B17-AEE8-1B05-6724-1DC3105D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Streaming </a:t>
            </a:r>
            <a:r>
              <a:rPr lang="en-US" altLang="zh-CN"/>
              <a:t>vs. Non-streaming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058B9-220F-44E6-E9DC-489450F04D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 fontScale="92500" lnSpcReduction="20000"/>
              </a:bodyPr>
              <a:lstStyle/>
              <a:p>
                <a:r>
                  <a:rPr lang="en-US" sz="2600" b="1">
                    <a:ea typeface="+mn-lt"/>
                    <a:cs typeface="+mn-lt"/>
                  </a:rPr>
                  <a:t>Non-Streaming (Stop-and-Go Execution):</a:t>
                </a:r>
                <a:endParaRPr lang="en-US" sz="2600"/>
              </a:p>
              <a:p>
                <a:pPr lvl="1"/>
                <a:r>
                  <a:rPr lang="en-US">
                    <a:ea typeface="+mn-lt"/>
                    <a:cs typeface="+mn-lt"/>
                  </a:rPr>
                  <a:t>Processor waits for the full round-trip of every memory request.</a:t>
                </a:r>
                <a:endParaRPr lang="en-US"/>
              </a:p>
              <a:p>
                <a:pPr lvl="1"/>
                <a:r>
                  <a:rPr lang="en-US" b="1">
                    <a:ea typeface="+mn-lt"/>
                    <a:cs typeface="+mn-lt"/>
                  </a:rPr>
                  <a:t>The Bottleneck:</a:t>
                </a:r>
                <a:r>
                  <a:rPr lang="en-US">
                    <a:ea typeface="+mn-lt"/>
                    <a:cs typeface="+mn-lt"/>
                  </a:rPr>
                  <a:t> </a:t>
                </a:r>
                <a:r>
                  <a:rPr lang="en-US" b="1">
                    <a:ea typeface="+mn-lt"/>
                    <a:cs typeface="+mn-lt"/>
                  </a:rPr>
                  <a:t>Memory Latency</a:t>
                </a:r>
                <a:r>
                  <a:rPr lang="en-US">
                    <a:ea typeface="+mn-lt"/>
                    <a:cs typeface="+mn-lt"/>
                  </a:rPr>
                  <a:t> (e.g., 10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</m:oMath>
                </a14:m>
                <a:r>
                  <a:rPr lang="en-US">
                    <a:ea typeface="+mn-lt"/>
                    <a:cs typeface="+mn-lt"/>
                  </a:rPr>
                  <a:t>).</a:t>
                </a:r>
                <a:endParaRPr lang="en-US"/>
              </a:p>
              <a:p>
                <a:pPr lvl="2"/>
                <a:r>
                  <a:rPr lang="en-US" i="1">
                    <a:ea typeface="+mn-lt"/>
                    <a:cs typeface="+mn-lt"/>
                  </a:rPr>
                  <a:t>Computation time is severely throttled by wait time.</a:t>
                </a:r>
                <a:endParaRPr lang="en-US"/>
              </a:p>
              <a:p>
                <a:r>
                  <a:rPr lang="en-US" sz="2600" b="1">
                    <a:ea typeface="+mn-lt"/>
                    <a:cs typeface="+mn-lt"/>
                  </a:rPr>
                  <a:t>Streaming (Pipelined Data Flow):</a:t>
                </a:r>
                <a:endParaRPr lang="en-US" sz="2600"/>
              </a:p>
              <a:p>
                <a:pPr lvl="1"/>
                <a:r>
                  <a:rPr lang="en-US">
                    <a:ea typeface="+mn-lt"/>
                    <a:cs typeface="+mn-lt"/>
                  </a:rPr>
                  <a:t>Multiple requests are in-flight. Initial latency is "hidden."</a:t>
                </a:r>
                <a:endParaRPr lang="en-US"/>
              </a:p>
              <a:p>
                <a:pPr lvl="1"/>
                <a:r>
                  <a:rPr lang="en-US" b="1">
                    <a:ea typeface="+mn-lt"/>
                    <a:cs typeface="+mn-lt"/>
                  </a:rPr>
                  <a:t>Scenario A: NO Cache (CPU </a:t>
                </a:r>
                <a:r>
                  <a:rPr lang="en-US" b="1">
                    <a:ea typeface="+mn-lt"/>
                    <a:cs typeface="+mn-lt"/>
                    <a:sym typeface="Wingdings" panose="05000000000000000000" pitchFamily="2" charset="2"/>
                  </a:rPr>
                  <a:t> </a:t>
                </a:r>
                <a:r>
                  <a:rPr lang="en-US" b="1">
                    <a:ea typeface="+mn-lt"/>
                    <a:cs typeface="+mn-lt"/>
                  </a:rPr>
                  <a:t>DRAM directly)</a:t>
                </a:r>
                <a:endParaRPr lang="en-US"/>
              </a:p>
              <a:p>
                <a:pPr lvl="2"/>
                <a:r>
                  <a:rPr lang="en-US">
                    <a:ea typeface="+mn-lt"/>
                    <a:cs typeface="+mn-lt"/>
                  </a:rPr>
                  <a:t>CPU pulls data straight from the main memory bus.</a:t>
                </a:r>
                <a:endParaRPr lang="en-US"/>
              </a:p>
              <a:p>
                <a:pPr lvl="2"/>
                <a:r>
                  <a:rPr lang="en-US" b="1">
                    <a:ea typeface="+mn-lt"/>
                    <a:cs typeface="+mn-lt"/>
                  </a:rPr>
                  <a:t>The Bottleneck:</a:t>
                </a:r>
                <a:r>
                  <a:rPr lang="en-US">
                    <a:ea typeface="+mn-lt"/>
                    <a:cs typeface="+mn-lt"/>
                  </a:rPr>
                  <a:t> </a:t>
                </a:r>
                <a:r>
                  <a:rPr lang="en-US" b="1">
                    <a:ea typeface="+mn-lt"/>
                    <a:cs typeface="+mn-lt"/>
                  </a:rPr>
                  <a:t>DRAM Bandwidth</a:t>
                </a:r>
                <a:r>
                  <a:rPr lang="en-US">
                    <a:ea typeface="+mn-lt"/>
                    <a:cs typeface="+mn-lt"/>
                  </a:rPr>
                  <a:t> (e.g., 64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𝐺𝐵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𝑠</m:t>
                    </m:r>
                  </m:oMath>
                </a14:m>
                <a:r>
                  <a:rPr lang="en-US">
                    <a:ea typeface="+mn-lt"/>
                    <a:cs typeface="+mn-lt"/>
                  </a:rPr>
                  <a:t>).</a:t>
                </a:r>
                <a:endParaRPr lang="en-US"/>
              </a:p>
              <a:p>
                <a:pPr lvl="1"/>
                <a:r>
                  <a:rPr lang="en-US" b="1">
                    <a:ea typeface="+mn-lt"/>
                    <a:cs typeface="+mn-lt"/>
                  </a:rPr>
                  <a:t>Scenario B: WITH Cache (The "Perfect Prefetch" Assumption)</a:t>
                </a:r>
                <a:endParaRPr lang="en-US"/>
              </a:p>
              <a:p>
                <a:pPr lvl="2"/>
                <a:r>
                  <a:rPr lang="en-US">
                    <a:ea typeface="+mn-lt"/>
                    <a:cs typeface="+mn-lt"/>
                  </a:rPr>
                  <a:t>Hardware prefetcher perfectly streams data from DRAM into L1 Cache in the background.</a:t>
                </a:r>
                <a:endParaRPr lang="en-US"/>
              </a:p>
              <a:p>
                <a:pPr lvl="2"/>
                <a:r>
                  <a:rPr lang="en-US" b="1">
                    <a:ea typeface="+mn-lt"/>
                    <a:cs typeface="+mn-lt"/>
                  </a:rPr>
                  <a:t>The Bottleneck:</a:t>
                </a:r>
                <a:r>
                  <a:rPr lang="en-US">
                    <a:ea typeface="+mn-lt"/>
                    <a:cs typeface="+mn-lt"/>
                  </a:rPr>
                  <a:t> </a:t>
                </a:r>
                <a:r>
                  <a:rPr lang="en-US" b="1">
                    <a:ea typeface="+mn-lt"/>
                    <a:cs typeface="+mn-lt"/>
                  </a:rPr>
                  <a:t>CPU-to-Cache Fetch Rate</a:t>
                </a:r>
                <a:r>
                  <a:rPr lang="en-US">
                    <a:ea typeface="+mn-lt"/>
                    <a:cs typeface="+mn-lt"/>
                  </a:rPr>
                  <a:t> (e.g., 4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𝑊𝑜𝑟𝑑𝑠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</m:oMath>
                </a14:m>
                <a:r>
                  <a:rPr lang="en-US">
                    <a:ea typeface="+mn-lt"/>
                    <a:cs typeface="+mn-lt"/>
                  </a:rPr>
                  <a:t>).</a:t>
                </a:r>
                <a:endParaRPr lang="en-US"/>
              </a:p>
              <a:p>
                <a:pPr lvl="2"/>
                <a:r>
                  <a:rPr lang="en-US" i="1">
                    <a:ea typeface="+mn-lt"/>
                    <a:cs typeface="+mn-lt"/>
                  </a:rPr>
                  <a:t>DRAM bandwidth and latency are assumed to be fully masked.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058B9-220F-44E6-E9DC-489450F04D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9" t="-3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6523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20C6-5A54-F0DC-E34A-55C76995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Arithmetic Intensity (AI)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4EF0AD-1456-1A0B-5627-33865DE30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b="1">
                    <a:ea typeface="+mn-lt"/>
                    <a:cs typeface="+mn-lt"/>
                  </a:rPr>
                  <a:t>What is Arithmetic Intensity (AI)?</a:t>
                </a:r>
                <a:endParaRPr lang="en-US"/>
              </a:p>
              <a:p>
                <a:pPr lvl="1"/>
                <a:r>
                  <a:rPr lang="en-US">
                    <a:ea typeface="+mn-lt"/>
                    <a:cs typeface="+mn-lt"/>
                  </a:rPr>
                  <a:t>Ratio of operations performed to data moved from DRAM.</a:t>
                </a:r>
                <a:endParaRPr lang="en-US"/>
              </a:p>
              <a:p>
                <a:pPr lvl="1"/>
                <a:r>
                  <a:rPr lang="en-US">
                    <a:ea typeface="+mn-lt"/>
                    <a:cs typeface="+mn-lt"/>
                  </a:rPr>
                  <a:t>Formula: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𝐴𝐼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𝑇𝑜𝑡𝑎𝑙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𝐹𝐿𝑂𝑃𝑠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𝑇𝑜𝑡𝑎𝑙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𝐵𝑦𝑡𝑒𝑠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𝐴𝑐𝑐𝑒𝑠𝑠𝑒𝑑</m:t>
                        </m:r>
                        <m:r>
                          <m:rPr>
                            <m:nor/>
                          </m:rPr>
                          <a:rPr lang="en-US" dirty="0">
                            <a:ea typeface="+mn-lt"/>
                            <a:cs typeface="+mn-lt"/>
                          </a:rPr>
                          <m:t> </m:t>
                        </m:r>
                      </m:den>
                    </m:f>
                  </m:oMath>
                </a14:m>
                <a:endParaRPr lang="en-US" b="1">
                  <a:ea typeface="+mn-lt"/>
                  <a:cs typeface="+mn-lt"/>
                </a:endParaRPr>
              </a:p>
              <a:p>
                <a:r>
                  <a:rPr lang="en-US" b="1">
                    <a:ea typeface="+mn-lt"/>
                    <a:cs typeface="+mn-lt"/>
                  </a:rPr>
                  <a:t>Calculating AI for our Workload:</a:t>
                </a:r>
                <a:endParaRPr lang="en-US"/>
              </a:p>
              <a:p>
                <a:pPr lvl="1"/>
                <a:r>
                  <a:rPr lang="en-US">
                    <a:ea typeface="+mn-lt"/>
                    <a:cs typeface="+mn-lt"/>
                  </a:rPr>
                  <a:t>For each element of X fetched, we do 1 multiplication and 1 addition.</a:t>
                </a:r>
                <a:endParaRPr lang="en-US"/>
              </a:p>
              <a:p>
                <a:pPr lvl="1"/>
                <a:r>
                  <a:rPr lang="en-US">
                    <a:ea typeface="+mn-lt"/>
                    <a:cs typeface="+mn-lt"/>
                  </a:rPr>
                  <a:t>Computation: 2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</m:oMath>
                </a14:m>
                <a:endParaRPr lang="en-US">
                  <a:ea typeface="+mn-lt"/>
                  <a:cs typeface="+mn-lt"/>
                </a:endParaRPr>
              </a:p>
              <a:p>
                <a:pPr lvl="1"/>
                <a:r>
                  <a:rPr lang="en-US">
                    <a:ea typeface="+mn-lt"/>
                    <a:cs typeface="+mn-lt"/>
                  </a:rPr>
                  <a:t>Data Moved: </a:t>
                </a:r>
              </a:p>
              <a:p>
                <a:endParaRPr lang="en-US">
                  <a:ea typeface="+mn-lt"/>
                  <a:cs typeface="+mn-lt"/>
                </a:endParaRP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4EF0AD-1456-1A0B-5627-33865DE30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9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006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DFD3-C8C8-9495-0BBF-422145CD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The Roofline Model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C4DD8-66FE-D04B-B951-BFEF0DF521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b="1">
                    <a:ea typeface="+mn-lt"/>
                    <a:cs typeface="+mn-lt"/>
                  </a:rPr>
                  <a:t>Defining the "Machine Balance":</a:t>
                </a:r>
                <a:endParaRPr lang="en-US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𝐵𝑎𝑙𝑎𝑛𝑐𝑒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𝑃𝑜𝑖𝑛𝑡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=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𝑃𝑒𝑎𝑘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𝐶𝑜𝑚𝑝𝑢𝑡𝑒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𝑃𝑒𝑎𝑘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𝐵𝑎𝑛𝑑𝑤𝑖𝑑𝑡h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16 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𝐺𝐹𝐿𝑂𝑃𝑆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64 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𝐺𝐵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/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𝑠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 0.25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𝐹𝐿𝑂𝑃𝑠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/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𝐵𝑦𝑡𝑒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.</m:t>
                      </m:r>
                    </m:oMath>
                  </m:oMathPara>
                </a14:m>
                <a:endParaRPr lang="en-US"/>
              </a:p>
              <a:p>
                <a:r>
                  <a:rPr lang="en-US" b="1">
                    <a:ea typeface="+mn-lt"/>
                    <a:cs typeface="+mn-lt"/>
                  </a:rPr>
                  <a:t>Where does our algorithm sit?</a:t>
                </a:r>
                <a:endParaRPr lang="en-US"/>
              </a:p>
              <a:p>
                <a:pPr lvl="1"/>
                <a:r>
                  <a:rPr lang="en-US">
                    <a:ea typeface="+mn-lt"/>
                    <a:cs typeface="+mn-lt"/>
                  </a:rPr>
                  <a:t>Our AI (0.25) perfectly matches the Machine Balance point!</a:t>
                </a:r>
                <a:endParaRPr lang="en-US"/>
              </a:p>
              <a:p>
                <a:pPr lvl="1"/>
                <a:r>
                  <a:rPr lang="en-US">
                    <a:ea typeface="+mn-lt"/>
                    <a:cs typeface="+mn-lt"/>
                  </a:rPr>
                  <a:t>Sustained Performance: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64 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𝐺𝐵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×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0.25 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16 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𝐺𝐹𝐿𝑂𝑃𝑆</m:t>
                    </m:r>
                    <m:r>
                      <a:rPr lang="en-US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.</m:t>
                    </m:r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C4DD8-66FE-D04B-B951-BFEF0DF521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9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920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E22F-F1D1-0AA3-52BA-6A8AAD4E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The Impact of Cache &amp; Data Reuse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B65E-6D6E-A876-E57D-FF9900C4E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800" b="1">
                <a:ea typeface="+mn-lt"/>
                <a:cs typeface="+mn-lt"/>
              </a:rPr>
              <a:t>Assumption:</a:t>
            </a:r>
            <a:r>
              <a:rPr lang="en-US" sz="2800">
                <a:ea typeface="+mn-lt"/>
                <a:cs typeface="+mn-lt"/>
              </a:rPr>
              <a:t> What if we add a local Cache and reuse elements?</a:t>
            </a:r>
            <a:endParaRPr lang="en-US" sz="2800"/>
          </a:p>
          <a:p>
            <a:r>
              <a:rPr lang="en-US" sz="2800" b="1">
                <a:ea typeface="+mn-lt"/>
                <a:cs typeface="+mn-lt"/>
              </a:rPr>
              <a:t>Without Cache (No Reuse):</a:t>
            </a:r>
            <a:endParaRPr lang="en-US" sz="2800"/>
          </a:p>
          <a:p>
            <a:pPr lvl="1"/>
            <a:r>
              <a:rPr lang="en-US" sz="2000">
                <a:ea typeface="+mn-lt"/>
                <a:cs typeface="+mn-lt"/>
              </a:rPr>
              <a:t>Every computation fetches from DRAM.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Stuck at AI = 0.25.</a:t>
            </a:r>
            <a:endParaRPr lang="en-US" sz="2000"/>
          </a:p>
          <a:p>
            <a:r>
              <a:rPr lang="en-US" sz="2800" b="1">
                <a:ea typeface="+mn-lt"/>
                <a:cs typeface="+mn-lt"/>
              </a:rPr>
              <a:t>With Cache (Data Reuse):</a:t>
            </a:r>
            <a:endParaRPr lang="en-US" sz="2800"/>
          </a:p>
          <a:p>
            <a:pPr lvl="1"/>
            <a:r>
              <a:rPr lang="en-US" sz="2000">
                <a:ea typeface="+mn-lt"/>
                <a:cs typeface="+mn-lt"/>
              </a:rPr>
              <a:t>We fetch X once from DRAM, store it in Cache, and reuse it K times.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Bytes moved from DRAM decreases significantly.</a:t>
            </a:r>
            <a:endParaRPr lang="en-US" sz="2000"/>
          </a:p>
          <a:p>
            <a:pPr lvl="1"/>
            <a:r>
              <a:rPr lang="en-US" sz="2000" b="1">
                <a:ea typeface="+mn-lt"/>
                <a:cs typeface="+mn-lt"/>
              </a:rPr>
              <a:t>AI Increases!</a:t>
            </a:r>
            <a:r>
              <a:rPr lang="en-US" sz="2000">
                <a:ea typeface="+mn-lt"/>
                <a:cs typeface="+mn-lt"/>
              </a:rPr>
              <a:t> AI &gt; 0.25)</a:t>
            </a:r>
            <a:endParaRPr lang="en-US" sz="2000"/>
          </a:p>
          <a:p>
            <a:r>
              <a:rPr lang="en-US" sz="2800" b="1">
                <a:ea typeface="+mn-lt"/>
                <a:cs typeface="+mn-lt"/>
              </a:rPr>
              <a:t>The Roofline Shift:</a:t>
            </a:r>
            <a:endParaRPr lang="en-US" sz="2800"/>
          </a:p>
          <a:p>
            <a:pPr lvl="1"/>
            <a:r>
              <a:rPr lang="en-US" sz="2000">
                <a:ea typeface="+mn-lt"/>
                <a:cs typeface="+mn-lt"/>
              </a:rPr>
              <a:t>Higher AI moves our operating point to the </a:t>
            </a:r>
            <a:r>
              <a:rPr lang="en-US" sz="2000" b="1">
                <a:ea typeface="+mn-lt"/>
                <a:cs typeface="+mn-lt"/>
              </a:rPr>
              <a:t>RIGHT</a:t>
            </a:r>
            <a:r>
              <a:rPr lang="en-US" sz="2000">
                <a:ea typeface="+mn-lt"/>
                <a:cs typeface="+mn-lt"/>
              </a:rPr>
              <a:t> on the Roofline graph.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System shifts from </a:t>
            </a:r>
            <a:r>
              <a:rPr lang="en-US" sz="2000" i="1">
                <a:ea typeface="+mn-lt"/>
                <a:cs typeface="+mn-lt"/>
              </a:rPr>
              <a:t>Memory-Bound</a:t>
            </a:r>
            <a:r>
              <a:rPr lang="en-US" sz="2000">
                <a:ea typeface="+mn-lt"/>
                <a:cs typeface="+mn-lt"/>
              </a:rPr>
              <a:t> to </a:t>
            </a:r>
            <a:r>
              <a:rPr lang="en-US" sz="2000" i="1">
                <a:ea typeface="+mn-lt"/>
                <a:cs typeface="+mn-lt"/>
              </a:rPr>
              <a:t>Compute-Bound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968163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1" spc="-10">
                <a:solidFill>
                  <a:srgbClr val="C00000"/>
                </a:solidFill>
                <a:latin typeface="Calibri"/>
                <a:cs typeface="Calibri"/>
              </a:rPr>
              <a:t>Questions?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6525" y="3237864"/>
            <a:ext cx="1996439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>
                <a:solidFill>
                  <a:srgbClr val="C00000"/>
                </a:solidFill>
                <a:latin typeface="Calibri"/>
                <a:cs typeface="Calibri"/>
              </a:rPr>
              <a:t>Thank</a:t>
            </a:r>
            <a:r>
              <a:rPr sz="3600" b="1" spc="-7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spc="-25">
                <a:solidFill>
                  <a:srgbClr val="C00000"/>
                </a:solidFill>
                <a:latin typeface="Calibri"/>
                <a:cs typeface="Calibri"/>
              </a:rPr>
              <a:t>you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3305043ED2BE4ABB2CC5860758F198" ma:contentTypeVersion="9" ma:contentTypeDescription="Create a new document." ma:contentTypeScope="" ma:versionID="b1a02b3560fb58d36553e7d5dad61af5">
  <xsd:schema xmlns:xsd="http://www.w3.org/2001/XMLSchema" xmlns:xs="http://www.w3.org/2001/XMLSchema" xmlns:p="http://schemas.microsoft.com/office/2006/metadata/properties" xmlns:ns3="c064469a-dbdb-4a8b-b6fa-fafa8a68bc59" targetNamespace="http://schemas.microsoft.com/office/2006/metadata/properties" ma:root="true" ma:fieldsID="38ca05c1d5aa034e47f8838cf8625b58" ns3:_="">
    <xsd:import namespace="c064469a-dbdb-4a8b-b6fa-fafa8a68bc5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4469a-dbdb-4a8b-b6fa-fafa8a68bc5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64469a-dbdb-4a8b-b6fa-fafa8a68bc59" xsi:nil="true"/>
  </documentManagement>
</p:properties>
</file>

<file path=customXml/itemProps1.xml><?xml version="1.0" encoding="utf-8"?>
<ds:datastoreItem xmlns:ds="http://schemas.openxmlformats.org/officeDocument/2006/customXml" ds:itemID="{75D2D5D1-7C3E-4853-B8A8-1453819213A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064469a-dbdb-4a8b-b6fa-fafa8a68bc59"/>
  </ds:schemaRefs>
</ds:datastoreItem>
</file>

<file path=customXml/itemProps2.xml><?xml version="1.0" encoding="utf-8"?>
<ds:datastoreItem xmlns:ds="http://schemas.openxmlformats.org/officeDocument/2006/customXml" ds:itemID="{BF830804-4C5B-4852-B4ED-E56F351D12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97C96A-ED7C-4CF4-A126-F4110C19DE2D}">
  <ds:schemaRefs>
    <ds:schemaRef ds:uri="http://schemas.microsoft.com/office/2006/metadata/properties"/>
    <ds:schemaRef ds:uri="http://www.w3.org/2000/xmlns/"/>
    <ds:schemaRef ds:uri="c064469a-dbdb-4a8b-b6fa-fafa8a68bc59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EE/CSCI 451 Introduction to Parallel and Distributed Computation</vt:lpstr>
      <vt:lpstr>Announcements</vt:lpstr>
      <vt:lpstr>Course Project (1)</vt:lpstr>
      <vt:lpstr>Course Project (2)</vt:lpstr>
      <vt:lpstr>Course Project (3)</vt:lpstr>
      <vt:lpstr>Course Project (4)</vt:lpstr>
      <vt:lpstr>Course Project (5)</vt:lpstr>
      <vt:lpstr>Example: Research, Implement, Evaluate</vt:lpstr>
      <vt:lpstr>Example: Research, Implement, Evaluate</vt:lpstr>
      <vt:lpstr>Example: Implement, Evaluate</vt:lpstr>
      <vt:lpstr>Example: Implement, Evaluate</vt:lpstr>
      <vt:lpstr>Example: Application Implementation</vt:lpstr>
      <vt:lpstr>More Examples</vt:lpstr>
      <vt:lpstr>Good Projects</vt:lpstr>
      <vt:lpstr>Common Mistakes</vt:lpstr>
      <vt:lpstr>Frequently Asked Questions</vt:lpstr>
      <vt:lpstr>Course Project (6)</vt:lpstr>
      <vt:lpstr>Programming Platforms</vt:lpstr>
      <vt:lpstr>The clock is ticking…</vt:lpstr>
      <vt:lpstr>Find your teammate</vt:lpstr>
      <vt:lpstr>Neural Processing Unit (NPU)</vt:lpstr>
      <vt:lpstr>Cerebras CS2: Cluster-on-Chip</vt:lpstr>
      <vt:lpstr>Intel AI PC</vt:lpstr>
      <vt:lpstr>Resources</vt:lpstr>
      <vt:lpstr>PowerPoint Presentation</vt:lpstr>
      <vt:lpstr>System Performance Evaluation </vt:lpstr>
      <vt:lpstr>Compute vs. Memory Capacity</vt:lpstr>
      <vt:lpstr>Streaming vs. Non-streaming</vt:lpstr>
      <vt:lpstr>Arithmetic Intensity (AI)</vt:lpstr>
      <vt:lpstr>The Roofline Model</vt:lpstr>
      <vt:lpstr>The Impact of Cache &amp; Data Reuse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EE/CSCI 451 Introduction to Parallel and Distributed Computation</dc:title>
  <cp:lastModifiedBy>Anvitha Ramachandran</cp:lastModifiedBy>
  <cp:revision>2</cp:revision>
  <dcterms:created xsi:type="dcterms:W3CDTF">2026-03-06T06:05:20Z</dcterms:created>
  <dcterms:modified xsi:type="dcterms:W3CDTF">2026-03-06T16:13:54Z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2024-10-08T00:00:00Z</vt:filetime>
  </property>
  <property fmtid="{D5CDD505-2E9C-101B-9397-08002B2CF9AE}" pid="3" name="LastSaved">
    <vt:filetime>2026-03-06T00:00:00Z</vt:filetime>
  </property>
  <property fmtid="{D5CDD505-2E9C-101B-9397-08002B2CF9AE}" pid="4" name="ContentTypeId">
    <vt:lpwstr>0x010100023305043ED2BE4ABB2CC5860758F198</vt:lpwstr>
  </property>
</Properties>
</file>